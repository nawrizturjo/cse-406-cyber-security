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ghOH22ndcbf6YYiyyppy2AmEfh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customschemas.google.com/relationships/presentationmetadata" Target="meta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1pPr>
            <a:lvl2pPr indent="-298450" lvl="1" marL="9144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spcBef>
                <a:spcPts val="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4d850f3e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4d850f3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100"/>
              <a:t>Global variables are stored in Data segment.</a:t>
            </a:r>
            <a:endParaRPr sz="1100"/>
          </a:p>
          <a:p>
            <a:pPr indent="0" lvl="0" marL="0" rtl="0" algn="l">
              <a:spcBef>
                <a:spcPts val="0"/>
              </a:spcBef>
              <a:spcAft>
                <a:spcPts val="0"/>
              </a:spcAft>
              <a:buClr>
                <a:schemeClr val="dk1"/>
              </a:buClr>
              <a:buSzPts val="1100"/>
              <a:buFont typeface="Arial"/>
              <a:buNone/>
            </a:pPr>
            <a:r>
              <a:rPr lang="en-US" sz="1100"/>
              <a:t>Uninitialized static variables are stored in BSS.</a:t>
            </a:r>
            <a:endParaRPr sz="1100"/>
          </a:p>
          <a:p>
            <a:pPr indent="0" lvl="0" marL="0" rtl="0" algn="l">
              <a:spcBef>
                <a:spcPts val="0"/>
              </a:spcBef>
              <a:spcAft>
                <a:spcPts val="0"/>
              </a:spcAft>
              <a:buClr>
                <a:schemeClr val="dk1"/>
              </a:buClr>
              <a:buSzPts val="1100"/>
              <a:buFont typeface="Arial"/>
              <a:buNone/>
            </a:pPr>
            <a:r>
              <a:rPr lang="en-US" sz="1100"/>
              <a:t>Dynamic memory is allocated in heap.</a:t>
            </a:r>
            <a:endParaRPr sz="1100"/>
          </a:p>
          <a:p>
            <a:pPr indent="0" lvl="0" marL="0" rtl="0" algn="l">
              <a:spcBef>
                <a:spcPts val="0"/>
              </a:spcBef>
              <a:spcAft>
                <a:spcPts val="0"/>
              </a:spcAft>
              <a:buClr>
                <a:schemeClr val="dk1"/>
              </a:buClr>
              <a:buSzPts val="1100"/>
              <a:buFont typeface="Arial"/>
              <a:buNone/>
            </a:pPr>
            <a:r>
              <a:rPr lang="en-US" sz="1100"/>
              <a:t>Local variables are stored in Stack.</a:t>
            </a:r>
            <a:endParaRPr sz="1100"/>
          </a:p>
          <a:p>
            <a:pPr indent="0" lvl="0" marL="0" rtl="0" algn="l">
              <a:spcBef>
                <a:spcPts val="0"/>
              </a:spcBef>
              <a:spcAft>
                <a:spcPts val="0"/>
              </a:spcAft>
              <a:buClr>
                <a:schemeClr val="dk1"/>
              </a:buClr>
              <a:buSzPts val="1100"/>
              <a:buFont typeface="Arial"/>
              <a:buNone/>
            </a:pPr>
            <a:r>
              <a:t/>
            </a:r>
            <a:endParaRPr sz="1100"/>
          </a:p>
        </p:txBody>
      </p:sp>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4d5c2568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4d5c256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local variables and function arguments are stored in the stack with reference to ebp.  The argument ‘b’ is stored at a higher address and hence is pushed into the stack before. The function arguments are pushed into the stack in reverse order.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Main function calls f() with arguments a and b. f function stack frame is created below the main function stack. The returns address in the f() stack frame points to the next instruction address after the function is executed and returned. Here, it points to the printf() instruction.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figure shows how functions are pushed into the stack. The return address in every function stack points to the next instruction that will be executed after the return. The frame pointer (ebp) of the caller function is stored in the callee’s function stack, so when the callee returns, the ebp register can point to the caller’s function stack.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Here we are copying str (300 bytes of data) into a buffer of size 100 bytes. This leads to buffer overflow. As seen in the foo() stack frame, this overflow leads to overwriting of some of the important contents of the stack like frame pointer, return address etc.</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To run malicious code, we need to find a place in the function stack which will point to our code, jump to it and execute it. As we had seen that, when a function is executed it jumps to the return address (the instruction after the function was called in the caller function) , we can modify the return address with the address of the malicious code so that it jumps to the code and executes it.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To perform this attack, we need to switch off the countermeasures which are discussed in the next slides.</a:t>
            </a:r>
            <a:endParaRPr/>
          </a:p>
          <a:p>
            <a:pPr indent="0" lvl="0" marL="0" rtl="0" algn="l">
              <a:spcBef>
                <a:spcPts val="0"/>
              </a:spcBef>
              <a:spcAft>
                <a:spcPts val="0"/>
              </a:spcAft>
              <a:buClr>
                <a:schemeClr val="dk1"/>
              </a:buClr>
              <a:buSzPts val="1100"/>
              <a:buFont typeface="Arial"/>
              <a:buNone/>
            </a:pPr>
            <a:r>
              <a:rPr lang="en-US"/>
              <a:t>Address randomization is turned off so that the base address of the buffer remains. It makes the task simpler to guess the return address in the stack.</a:t>
            </a:r>
            <a:endParaRPr/>
          </a:p>
          <a:p>
            <a:pPr indent="0" lvl="0" marL="0" rtl="0" algn="l">
              <a:spcBef>
                <a:spcPts val="0"/>
              </a:spcBef>
              <a:spcAft>
                <a:spcPts val="0"/>
              </a:spcAft>
              <a:buClr>
                <a:schemeClr val="dk1"/>
              </a:buClr>
              <a:buSzPts val="1100"/>
              <a:buFont typeface="Arial"/>
              <a:buNone/>
            </a:pPr>
            <a:r>
              <a:rPr lang="en-US"/>
              <a:t>We set the stack as executable as we need to execute our own code on the stack. Also, we disabled stack guard protection (discussed later).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two challenges faced when running the malicious code are :</a:t>
            </a:r>
            <a:endParaRPr/>
          </a:p>
          <a:p>
            <a:pPr indent="-298450" lvl="0" marL="457200" rtl="0" algn="l">
              <a:spcBef>
                <a:spcPts val="0"/>
              </a:spcBef>
              <a:spcAft>
                <a:spcPts val="0"/>
              </a:spcAft>
              <a:buClr>
                <a:schemeClr val="dk1"/>
              </a:buClr>
              <a:buSzPts val="1100"/>
              <a:buFont typeface="Arial"/>
              <a:buAutoNum type="alphaUcPeriod"/>
            </a:pPr>
            <a:r>
              <a:rPr lang="en-US"/>
              <a:t>Find the offset distance between the base of the buffer and return address so that we can modify the return with address of the code.</a:t>
            </a:r>
            <a:endParaRPr/>
          </a:p>
          <a:p>
            <a:pPr indent="-298450" lvl="0" marL="457200" rtl="0" algn="l">
              <a:spcBef>
                <a:spcPts val="0"/>
              </a:spcBef>
              <a:spcAft>
                <a:spcPts val="0"/>
              </a:spcAft>
              <a:buClr>
                <a:schemeClr val="dk1"/>
              </a:buClr>
              <a:buSzPts val="1100"/>
              <a:buFont typeface="Arial"/>
              <a:buAutoNum type="alphaUcPeriod"/>
            </a:pPr>
            <a:r>
              <a:rPr lang="en-US"/>
              <a:t>Find the address of the malicious code. If we don’t handle this, our malicious code will be stored in some random memory location to which we have control to. In that case we cannot modify the return address with the address of our code. Hence, we will put our malicious code in the function stack itself.</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So,we need do the following on our badfile :</a:t>
            </a:r>
            <a:endParaRPr/>
          </a:p>
          <a:p>
            <a:pPr indent="0" lvl="0" marL="0" rtl="0" algn="l">
              <a:spcBef>
                <a:spcPts val="0"/>
              </a:spcBef>
              <a:spcAft>
                <a:spcPts val="0"/>
              </a:spcAft>
              <a:buClr>
                <a:schemeClr val="dk1"/>
              </a:buClr>
              <a:buSzPts val="1100"/>
              <a:buFont typeface="Arial"/>
              <a:buNone/>
            </a:pPr>
            <a:r>
              <a:t/>
            </a:r>
            <a:endParaRPr/>
          </a:p>
          <a:p>
            <a:pPr indent="-298450" lvl="0" marL="457200" rtl="0" algn="l">
              <a:spcBef>
                <a:spcPts val="0"/>
              </a:spcBef>
              <a:spcAft>
                <a:spcPts val="0"/>
              </a:spcAft>
              <a:buClr>
                <a:schemeClr val="dk1"/>
              </a:buClr>
              <a:buSzPts val="1100"/>
              <a:buFont typeface="Arial"/>
              <a:buAutoNum type="arabicParenR"/>
            </a:pPr>
            <a:r>
              <a:rPr lang="en-US"/>
              <a:t>Write the malicious code (shellcode : discussed in later slides)</a:t>
            </a:r>
            <a:endParaRPr/>
          </a:p>
          <a:p>
            <a:pPr indent="-298450" lvl="0" marL="457200" rtl="0" algn="l">
              <a:spcBef>
                <a:spcPts val="0"/>
              </a:spcBef>
              <a:spcAft>
                <a:spcPts val="0"/>
              </a:spcAft>
              <a:buClr>
                <a:schemeClr val="dk1"/>
              </a:buClr>
              <a:buSzPts val="1100"/>
              <a:buFont typeface="Arial"/>
              <a:buAutoNum type="arabicParenR"/>
            </a:pPr>
            <a:r>
              <a:rPr lang="en-US"/>
              <a:t>Place the malicious code in our stack ( At the lowest address above return address or at the end of the of the buffer)</a:t>
            </a:r>
            <a:endParaRPr/>
          </a:p>
          <a:p>
            <a:pPr indent="-298450" lvl="0" marL="457200" rtl="0" algn="l">
              <a:spcBef>
                <a:spcPts val="0"/>
              </a:spcBef>
              <a:spcAft>
                <a:spcPts val="0"/>
              </a:spcAft>
              <a:buClr>
                <a:schemeClr val="dk1"/>
              </a:buClr>
              <a:buSzPts val="1100"/>
              <a:buFont typeface="Arial"/>
              <a:buAutoNum type="arabicParenR"/>
            </a:pPr>
            <a:r>
              <a:rPr lang="en-US"/>
              <a:t>Modify return address with address of the shell code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To find the distance between the base of the buffer and the return address, we need to use a gdb debugging tool. given that we have access to the vulnerable code, we can use gdb to the base address of the buffer, address of the frame pointer (ebp) and return address ($ebp + 4)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 Initialize the entire buffer with NOP instructions.</a:t>
            </a:r>
            <a:endParaRPr/>
          </a:p>
          <a:p>
            <a:pPr indent="0" lvl="0" marL="0" rtl="0" algn="l">
              <a:spcBef>
                <a:spcPts val="0"/>
              </a:spcBef>
              <a:spcAft>
                <a:spcPts val="0"/>
              </a:spcAft>
              <a:buClr>
                <a:schemeClr val="dk1"/>
              </a:buClr>
              <a:buSzPts val="1100"/>
              <a:buFont typeface="Arial"/>
              <a:buNone/>
            </a:pPr>
            <a:r>
              <a:rPr lang="en-US"/>
              <a:t>- Obtain the results from Task A and Task B and place the malicious code address in return address.</a:t>
            </a:r>
            <a:endParaRPr/>
          </a:p>
          <a:p>
            <a:pPr indent="0" lvl="0" marL="0" rtl="0" algn="l">
              <a:spcBef>
                <a:spcPts val="0"/>
              </a:spcBef>
              <a:spcAft>
                <a:spcPts val="0"/>
              </a:spcAft>
              <a:buClr>
                <a:schemeClr val="dk1"/>
              </a:buClr>
              <a:buSzPts val="1100"/>
              <a:buFont typeface="Arial"/>
              <a:buNone/>
            </a:pPr>
            <a:r>
              <a:rPr lang="en-US"/>
              <a:t>- Place the malicious at the of the buffer.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above C code gives the shell prompt to execute more commands. We can compile the above C code into binary and store it into the badfile with modified return address field to the address of main(). But there are issues with this solution :</a:t>
            </a:r>
            <a:endParaRPr/>
          </a:p>
          <a:p>
            <a:pPr indent="-298450" lvl="0" marL="457200" rtl="0" algn="l">
              <a:spcBef>
                <a:spcPts val="0"/>
              </a:spcBef>
              <a:spcAft>
                <a:spcPts val="0"/>
              </a:spcAft>
              <a:buClr>
                <a:schemeClr val="dk1"/>
              </a:buClr>
              <a:buSzPts val="1100"/>
              <a:buFont typeface="Arial"/>
              <a:buAutoNum type="arabicParenR"/>
            </a:pPr>
            <a:r>
              <a:rPr lang="en-US"/>
              <a:t>Loader Issue : OS loader is responsible for setting up the memory, copying the program to the memory and invoking dynamic linker to link libraries etc to set up the running environment of the program.After the initializations steps are completed, main() is called. If any of the steps are missing, program won’t be loaded to the memory. In buffer flow program, we are copying the code using memory copy. Therefore all the initialization steps are missing and hence, our shell code won’t be executed.</a:t>
            </a:r>
            <a:endParaRPr/>
          </a:p>
          <a:p>
            <a:pPr indent="-298450" lvl="0" marL="457200" rtl="0" algn="l">
              <a:spcBef>
                <a:spcPts val="0"/>
              </a:spcBef>
              <a:spcAft>
                <a:spcPts val="0"/>
              </a:spcAft>
              <a:buClr>
                <a:schemeClr val="dk1"/>
              </a:buClr>
              <a:buSzPts val="1100"/>
              <a:buFont typeface="Arial"/>
              <a:buAutoNum type="arabicParenR"/>
            </a:pPr>
            <a:r>
              <a:rPr lang="en-US"/>
              <a:t>Zeros in the code : strcpy() stops copying when a zero is found in the source string. When the C code is compiled ot binary, there will be zeros in the binary code which will stop copying the badfile further.</a:t>
            </a:r>
            <a:endParaRPr/>
          </a:p>
          <a:p>
            <a:pPr indent="0" lvl="0" marL="0" rtl="0" algn="l">
              <a:spcBef>
                <a:spcPts val="0"/>
              </a:spcBef>
              <a:spcAft>
                <a:spcPts val="0"/>
              </a:spcAft>
              <a:buClr>
                <a:schemeClr val="dk1"/>
              </a:buClr>
              <a:buSzPts val="1100"/>
              <a:buFont typeface="Arial"/>
              <a:buNone/>
            </a:pPr>
            <a:r>
              <a:rPr lang="en-US"/>
              <a:t>Refer to section 4.6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US"/>
              <a:t>Refer to section 4.6.2 and 4.6.3</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When the ASLR is enabled in the Linux machine, we ran the above code to check how it affects the addresses of the local variables on stack as well as heap. ASLR changes the address of the code every time it is loaded.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1 : When set to 0, the address space is not randomized.</a:t>
            </a:r>
            <a:endParaRPr/>
          </a:p>
          <a:p>
            <a:pPr indent="0" lvl="0" marL="0" rtl="0" algn="l">
              <a:spcBef>
                <a:spcPts val="0"/>
              </a:spcBef>
              <a:spcAft>
                <a:spcPts val="0"/>
              </a:spcAft>
              <a:buClr>
                <a:schemeClr val="dk1"/>
              </a:buClr>
              <a:buSzPts val="1100"/>
              <a:buFont typeface="Arial"/>
              <a:buNone/>
            </a:pPr>
            <a:r>
              <a:rPr lang="en-US"/>
              <a:t>2 : When set to 1, only stack memory address is randomized.</a:t>
            </a:r>
            <a:endParaRPr/>
          </a:p>
          <a:p>
            <a:pPr indent="0" lvl="0" marL="0" rtl="0" algn="l">
              <a:spcBef>
                <a:spcPts val="0"/>
              </a:spcBef>
              <a:spcAft>
                <a:spcPts val="0"/>
              </a:spcAft>
              <a:buClr>
                <a:schemeClr val="dk1"/>
              </a:buClr>
              <a:buSzPts val="1100"/>
              <a:buFont typeface="Arial"/>
              <a:buNone/>
            </a:pPr>
            <a:r>
              <a:rPr lang="en-US"/>
              <a:t>3 : When set to 2, both stack and heap memory address is randomized.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Stackguard is a compiler approach to defeat buffer overflow.  A random secret value is generated and stored in a memory location (not on stack) and is assigned to a local variable of the function which gets stored in the stack. After the copy function is function, it is checked if the value of the local variable is changed. If yes, buffer overflow has taken place and the program exits without returning.</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Prog.c is a vulnerable program which takes input from the user and calls a function foo() which copies to a buffer. When the user passes a variable of longer length than buffer size, it changes the value of the local variable (guard) and hence, the program terminates with stack smashing message.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1"/>
          <p:cNvSpPr txBox="1"/>
          <p:nvPr>
            <p:ph type="ctrTitle"/>
          </p:nvPr>
        </p:nvSpPr>
        <p:spPr>
          <a:xfrm>
            <a:off x="1524000" y="1122363"/>
            <a:ext cx="9144000" cy="2387600"/>
          </a:xfrm>
          <a:prstGeom prst="rect">
            <a:avLst/>
          </a:prstGeom>
          <a:noFill/>
          <a:ln>
            <a:noFill/>
          </a:ln>
        </p:spPr>
        <p:txBody>
          <a:bodyPr anchorCtr="0" anchor="b" bIns="91425" lIns="91425" spcFirstLastPara="1" rIns="91425" wrap="square" tIns="91425">
            <a:noAutofit/>
          </a:bodyPr>
          <a:lstStyle>
            <a:lvl1pPr lvl="0" marR="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1"/>
          <p:cNvSpPr txBox="1"/>
          <p:nvPr>
            <p:ph idx="1" type="subTitle"/>
          </p:nvPr>
        </p:nvSpPr>
        <p:spPr>
          <a:xfrm>
            <a:off x="1524000" y="3602038"/>
            <a:ext cx="9144000" cy="1655762"/>
          </a:xfrm>
          <a:prstGeom prst="rect">
            <a:avLst/>
          </a:prstGeom>
          <a:noFill/>
          <a:ln>
            <a:noFill/>
          </a:ln>
        </p:spPr>
        <p:txBody>
          <a:bodyPr anchorCtr="0" anchor="t" bIns="91425" lIns="91425" spcFirstLastPara="1" rIns="91425" wrap="square" tIns="91425">
            <a:noAutofit/>
          </a:bodyPr>
          <a:lstStyle>
            <a:lvl1pPr lvl="0" marR="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4" name="Google Shape;14;p41"/>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5" name="Google Shape;15;p41"/>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6" name="Google Shape;1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2"/>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42"/>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 name="Google Shape;20;p42"/>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1" name="Google Shape;21;p42"/>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2" name="Google Shape;2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3"/>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SzPts val="1800"/>
              <a:buChar char="●"/>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0"/>
              </a:spcBef>
              <a:spcAft>
                <a:spcPts val="0"/>
              </a:spcAft>
              <a:buSzPts val="1400"/>
              <a:buChar char="■"/>
              <a:defRPr/>
            </a:lvl3pPr>
            <a:lvl4pPr indent="-317500" lvl="3" marL="1828800" algn="l">
              <a:lnSpc>
                <a:spcPct val="90000"/>
              </a:lnSpc>
              <a:spcBef>
                <a:spcPts val="0"/>
              </a:spcBef>
              <a:spcAft>
                <a:spcPts val="0"/>
              </a:spcAft>
              <a:buSzPts val="1400"/>
              <a:buChar char="●"/>
              <a:defRPr/>
            </a:lvl4pPr>
            <a:lvl5pPr indent="-317500" lvl="4" marL="2286000" algn="l">
              <a:lnSpc>
                <a:spcPct val="90000"/>
              </a:lnSpc>
              <a:spcBef>
                <a:spcPts val="0"/>
              </a:spcBef>
              <a:spcAft>
                <a:spcPts val="0"/>
              </a:spcAft>
              <a:buSzPts val="1400"/>
              <a:buChar char="○"/>
              <a:defRPr/>
            </a:lvl5pPr>
            <a:lvl6pPr indent="-317500" lvl="5" marL="2743200" algn="l">
              <a:lnSpc>
                <a:spcPct val="90000"/>
              </a:lnSpc>
              <a:spcBef>
                <a:spcPts val="0"/>
              </a:spcBef>
              <a:spcAft>
                <a:spcPts val="0"/>
              </a:spcAft>
              <a:buSzPts val="1400"/>
              <a:buChar char="■"/>
              <a:defRPr/>
            </a:lvl6pPr>
            <a:lvl7pPr indent="-317500" lvl="6" marL="3200400" algn="l">
              <a:lnSpc>
                <a:spcPct val="90000"/>
              </a:lnSpc>
              <a:spcBef>
                <a:spcPts val="0"/>
              </a:spcBef>
              <a:spcAft>
                <a:spcPts val="0"/>
              </a:spcAft>
              <a:buSzPts val="1400"/>
              <a:buChar char="●"/>
              <a:defRPr/>
            </a:lvl7pPr>
            <a:lvl8pPr indent="-317500" lvl="7" marL="3657600" algn="l">
              <a:lnSpc>
                <a:spcPct val="90000"/>
              </a:lnSpc>
              <a:spcBef>
                <a:spcPts val="0"/>
              </a:spcBef>
              <a:spcAft>
                <a:spcPts val="0"/>
              </a:spcAft>
              <a:buSzPts val="1400"/>
              <a:buChar char="○"/>
              <a:defRPr/>
            </a:lvl8pPr>
            <a:lvl9pPr indent="-317500" lvl="8" marL="4114800" algn="l">
              <a:lnSpc>
                <a:spcPct val="90000"/>
              </a:lnSpc>
              <a:spcBef>
                <a:spcPts val="0"/>
              </a:spcBef>
              <a:spcAft>
                <a:spcPts val="0"/>
              </a:spcAft>
              <a:buSzPts val="1400"/>
              <a:buChar char="■"/>
              <a:defRPr/>
            </a:lvl9pPr>
          </a:lstStyle>
          <a:p/>
        </p:txBody>
      </p:sp>
      <p:sp>
        <p:nvSpPr>
          <p:cNvPr id="26" name="Google Shape;26;p4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4"/>
          <p:cNvSpPr txBox="1"/>
          <p:nvPr>
            <p:ph type="title"/>
          </p:nvPr>
        </p:nvSpPr>
        <p:spPr>
          <a:xfrm>
            <a:off x="831850" y="1709738"/>
            <a:ext cx="10515600" cy="2852737"/>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44"/>
          <p:cNvSpPr txBox="1"/>
          <p:nvPr>
            <p:ph idx="1" type="body"/>
          </p:nvPr>
        </p:nvSpPr>
        <p:spPr>
          <a:xfrm>
            <a:off x="831850" y="4589463"/>
            <a:ext cx="10515600" cy="1500187"/>
          </a:xfrm>
          <a:prstGeom prst="rect">
            <a:avLst/>
          </a:prstGeom>
          <a:noFill/>
          <a:ln>
            <a:noFill/>
          </a:ln>
        </p:spPr>
        <p:txBody>
          <a:bodyPr anchorCtr="0" anchor="t" bIns="91425" lIns="91425" spcFirstLastPara="1" rIns="91425" wrap="square" tIns="91425">
            <a:noAutofit/>
          </a:bodyPr>
          <a:lstStyle>
            <a:lvl1pPr indent="-228600" lvl="0" marL="457200" marR="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0" name="Google Shape;30;p44"/>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1" name="Google Shape;31;p44"/>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2" name="Google Shape;32;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5"/>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45"/>
          <p:cNvSpPr txBox="1"/>
          <p:nvPr>
            <p:ph idx="1" type="body"/>
          </p:nvPr>
        </p:nvSpPr>
        <p:spPr>
          <a:xfrm>
            <a:off x="838200" y="1825625"/>
            <a:ext cx="5181600" cy="435133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45"/>
          <p:cNvSpPr txBox="1"/>
          <p:nvPr>
            <p:ph idx="2" type="body"/>
          </p:nvPr>
        </p:nvSpPr>
        <p:spPr>
          <a:xfrm>
            <a:off x="6172200" y="1825625"/>
            <a:ext cx="5181600" cy="435133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p45"/>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8" name="Google Shape;38;p45"/>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39" name="Google Shape;3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6"/>
          <p:cNvSpPr txBox="1"/>
          <p:nvPr>
            <p:ph type="title"/>
          </p:nvPr>
        </p:nvSpPr>
        <p:spPr>
          <a:xfrm>
            <a:off x="839788"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 name="Google Shape;42;p46"/>
          <p:cNvSpPr txBox="1"/>
          <p:nvPr>
            <p:ph idx="1" type="body"/>
          </p:nvPr>
        </p:nvSpPr>
        <p:spPr>
          <a:xfrm>
            <a:off x="839788" y="1681163"/>
            <a:ext cx="5157787" cy="823912"/>
          </a:xfrm>
          <a:prstGeom prst="rect">
            <a:avLst/>
          </a:prstGeom>
          <a:noFill/>
          <a:ln>
            <a:noFill/>
          </a:ln>
        </p:spPr>
        <p:txBody>
          <a:bodyPr anchorCtr="0" anchor="b"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46"/>
          <p:cNvSpPr txBox="1"/>
          <p:nvPr>
            <p:ph idx="2" type="body"/>
          </p:nvPr>
        </p:nvSpPr>
        <p:spPr>
          <a:xfrm>
            <a:off x="839788" y="2505075"/>
            <a:ext cx="5157787" cy="368458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46"/>
          <p:cNvSpPr txBox="1"/>
          <p:nvPr>
            <p:ph idx="3" type="body"/>
          </p:nvPr>
        </p:nvSpPr>
        <p:spPr>
          <a:xfrm>
            <a:off x="6172200" y="1681163"/>
            <a:ext cx="5183188" cy="823912"/>
          </a:xfrm>
          <a:prstGeom prst="rect">
            <a:avLst/>
          </a:prstGeom>
          <a:noFill/>
          <a:ln>
            <a:noFill/>
          </a:ln>
        </p:spPr>
        <p:txBody>
          <a:bodyPr anchorCtr="0" anchor="b"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5" name="Google Shape;45;p46"/>
          <p:cNvSpPr txBox="1"/>
          <p:nvPr>
            <p:ph idx="4" type="body"/>
          </p:nvPr>
        </p:nvSpPr>
        <p:spPr>
          <a:xfrm>
            <a:off x="6172200" y="2505075"/>
            <a:ext cx="5183188" cy="3684588"/>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46"/>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47" name="Google Shape;47;p46"/>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48" name="Google Shape;48;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7"/>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47"/>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2" name="Google Shape;52;p47"/>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3" name="Google Shape;5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8"/>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6" name="Google Shape;56;p48"/>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7" name="Google Shape;5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9"/>
          <p:cNvSpPr txBox="1"/>
          <p:nvPr>
            <p:ph type="title"/>
          </p:nvPr>
        </p:nvSpPr>
        <p:spPr>
          <a:xfrm>
            <a:off x="839788" y="457200"/>
            <a:ext cx="3932237" cy="1600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49"/>
          <p:cNvSpPr txBox="1"/>
          <p:nvPr>
            <p:ph idx="1" type="body"/>
          </p:nvPr>
        </p:nvSpPr>
        <p:spPr>
          <a:xfrm>
            <a:off x="5183188" y="987425"/>
            <a:ext cx="6172200" cy="4873625"/>
          </a:xfrm>
          <a:prstGeom prst="rect">
            <a:avLst/>
          </a:prstGeom>
          <a:noFill/>
          <a:ln>
            <a:noFill/>
          </a:ln>
        </p:spPr>
        <p:txBody>
          <a:bodyPr anchorCtr="0" anchor="t" bIns="91425" lIns="91425" spcFirstLastPara="1" rIns="91425" wrap="square" tIns="91425">
            <a:noAutofit/>
          </a:bodyPr>
          <a:lstStyle>
            <a:lvl1pPr indent="-431800" lvl="0" marL="457200" marR="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1" name="Google Shape;61;p49"/>
          <p:cNvSpPr txBox="1"/>
          <p:nvPr>
            <p:ph idx="2" type="body"/>
          </p:nvPr>
        </p:nvSpPr>
        <p:spPr>
          <a:xfrm>
            <a:off x="839788" y="2057400"/>
            <a:ext cx="3932237" cy="3811588"/>
          </a:xfrm>
          <a:prstGeom prst="rect">
            <a:avLst/>
          </a:prstGeom>
          <a:noFill/>
          <a:ln>
            <a:noFill/>
          </a:ln>
        </p:spPr>
        <p:txBody>
          <a:bodyPr anchorCtr="0" anchor="t"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2" name="Google Shape;62;p49"/>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63" name="Google Shape;63;p49"/>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64" name="Google Shape;64;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0"/>
          <p:cNvSpPr txBox="1"/>
          <p:nvPr>
            <p:ph type="title"/>
          </p:nvPr>
        </p:nvSpPr>
        <p:spPr>
          <a:xfrm>
            <a:off x="839788" y="457200"/>
            <a:ext cx="3932237" cy="1600200"/>
          </a:xfrm>
          <a:prstGeom prst="rect">
            <a:avLst/>
          </a:prstGeom>
          <a:noFill/>
          <a:ln>
            <a:noFill/>
          </a:ln>
        </p:spPr>
        <p:txBody>
          <a:bodyPr anchorCtr="0" anchor="b" bIns="91425" lIns="91425" spcFirstLastPara="1" rIns="91425" wrap="square" tIns="91425">
            <a:noAutofit/>
          </a:bodyPr>
          <a:lstStyle>
            <a:lvl1pPr lvl="0" marR="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50"/>
          <p:cNvSpPr/>
          <p:nvPr>
            <p:ph idx="2" type="pic"/>
          </p:nvPr>
        </p:nvSpPr>
        <p:spPr>
          <a:xfrm>
            <a:off x="5183188" y="987425"/>
            <a:ext cx="6172200" cy="4873625"/>
          </a:xfrm>
          <a:prstGeom prst="rect">
            <a:avLst/>
          </a:prstGeom>
          <a:noFill/>
          <a:ln>
            <a:noFill/>
          </a:ln>
        </p:spPr>
      </p:sp>
      <p:sp>
        <p:nvSpPr>
          <p:cNvPr id="68" name="Google Shape;68;p50"/>
          <p:cNvSpPr txBox="1"/>
          <p:nvPr>
            <p:ph idx="1" type="body"/>
          </p:nvPr>
        </p:nvSpPr>
        <p:spPr>
          <a:xfrm>
            <a:off x="839788" y="2057400"/>
            <a:ext cx="3932237" cy="3811588"/>
          </a:xfrm>
          <a:prstGeom prst="rect">
            <a:avLst/>
          </a:prstGeom>
          <a:noFill/>
          <a:ln>
            <a:noFill/>
          </a:ln>
        </p:spPr>
        <p:txBody>
          <a:bodyPr anchorCtr="0" anchor="t" bIns="91425" lIns="91425" spcFirstLastPara="1" rIns="91425" wrap="square" tIns="91425">
            <a:noAutofit/>
          </a:bodyPr>
          <a:lstStyle>
            <a:lvl1pPr indent="-228600" lvl="0" marL="457200" marR="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9" name="Google Shape;69;p50"/>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70" name="Google Shape;70;p50"/>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71" name="Google Shape;7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1"/>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4" name="Google Shape;74;p51"/>
          <p:cNvSpPr txBox="1"/>
          <p:nvPr>
            <p:ph idx="1" type="body"/>
          </p:nvPr>
        </p:nvSpPr>
        <p:spPr>
          <a:xfrm rot="5400000">
            <a:off x="3920331" y="-1256506"/>
            <a:ext cx="4351338" cy="10515600"/>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51"/>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76" name="Google Shape;76;p51"/>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77" name="Google Shape;77;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2"/>
          <p:cNvSpPr txBox="1"/>
          <p:nvPr>
            <p:ph type="title"/>
          </p:nvPr>
        </p:nvSpPr>
        <p:spPr>
          <a:xfrm rot="5400000">
            <a:off x="7133431" y="1956594"/>
            <a:ext cx="5811838" cy="26289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52"/>
          <p:cNvSpPr txBox="1"/>
          <p:nvPr>
            <p:ph idx="1" type="body"/>
          </p:nvPr>
        </p:nvSpPr>
        <p:spPr>
          <a:xfrm rot="5400000">
            <a:off x="1799431" y="-596106"/>
            <a:ext cx="5811838" cy="7734300"/>
          </a:xfrm>
          <a:prstGeom prst="rect">
            <a:avLst/>
          </a:prstGeom>
          <a:noFill/>
          <a:ln>
            <a:noFill/>
          </a:ln>
        </p:spPr>
        <p:txBody>
          <a:bodyPr anchorCtr="0" anchor="t" bIns="91425" lIns="91425" spcFirstLastPara="1" rIns="91425" wrap="square" tIns="91425">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52"/>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82" name="Google Shape;82;p52"/>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83" name="Google Shape;83;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Font typeface="Arial"/>
              <a:buNone/>
              <a:defRPr sz="1800"/>
            </a:lvl2pPr>
            <a:lvl3pPr lvl="2">
              <a:spcBef>
                <a:spcPts val="0"/>
              </a:spcBef>
              <a:spcAft>
                <a:spcPts val="0"/>
              </a:spcAft>
              <a:buSzPts val="1400"/>
              <a:buFont typeface="Arial"/>
              <a:buNone/>
              <a:defRPr sz="1800"/>
            </a:lvl3pPr>
            <a:lvl4pPr lvl="3">
              <a:spcBef>
                <a:spcPts val="0"/>
              </a:spcBef>
              <a:spcAft>
                <a:spcPts val="0"/>
              </a:spcAft>
              <a:buSzPts val="1400"/>
              <a:buFont typeface="Arial"/>
              <a:buNone/>
              <a:defRPr sz="1800"/>
            </a:lvl4pPr>
            <a:lvl5pPr lvl="4">
              <a:spcBef>
                <a:spcPts val="0"/>
              </a:spcBef>
              <a:spcAft>
                <a:spcPts val="0"/>
              </a:spcAft>
              <a:buSzPts val="1400"/>
              <a:buFont typeface="Arial"/>
              <a:buNone/>
              <a:defRPr sz="1800"/>
            </a:lvl5pPr>
            <a:lvl6pPr lvl="5">
              <a:spcBef>
                <a:spcPts val="0"/>
              </a:spcBef>
              <a:spcAft>
                <a:spcPts val="0"/>
              </a:spcAft>
              <a:buSzPts val="1400"/>
              <a:buFont typeface="Arial"/>
              <a:buNone/>
              <a:defRPr sz="1800"/>
            </a:lvl6pPr>
            <a:lvl7pPr lvl="6">
              <a:spcBef>
                <a:spcPts val="0"/>
              </a:spcBef>
              <a:spcAft>
                <a:spcPts val="0"/>
              </a:spcAft>
              <a:buSzPts val="1400"/>
              <a:buFont typeface="Arial"/>
              <a:buNone/>
              <a:defRPr sz="1800"/>
            </a:lvl7pPr>
            <a:lvl8pPr lvl="7">
              <a:spcBef>
                <a:spcPts val="0"/>
              </a:spcBef>
              <a:spcAft>
                <a:spcPts val="0"/>
              </a:spcAft>
              <a:buSzPts val="1400"/>
              <a:buFont typeface="Arial"/>
              <a:buNone/>
              <a:defRPr sz="1800"/>
            </a:lvl8pPr>
            <a:lvl9pPr lvl="8">
              <a:spcBef>
                <a:spcPts val="0"/>
              </a:spcBef>
              <a:spcAft>
                <a:spcPts val="0"/>
              </a:spcAft>
              <a:buSzPts val="1400"/>
              <a:buFont typeface="Arial"/>
              <a:buNone/>
              <a:defRPr sz="1800"/>
            </a:lvl9pPr>
          </a:lstStyle>
          <a:p/>
        </p:txBody>
      </p:sp>
      <p:sp>
        <p:nvSpPr>
          <p:cNvPr id="7" name="Google Shape;7;p40"/>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0"/>
          <p:cNvSpPr txBox="1"/>
          <p:nvPr>
            <p:ph idx="10" type="dt"/>
          </p:nvPr>
        </p:nvSpPr>
        <p:spPr>
          <a:xfrm>
            <a:off x="838200" y="6356350"/>
            <a:ext cx="2743200" cy="365125"/>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9" name="Google Shape;9;p40"/>
          <p:cNvSpPr txBox="1"/>
          <p:nvPr>
            <p:ph idx="11" type="ftr"/>
          </p:nvPr>
        </p:nvSpPr>
        <p:spPr>
          <a:xfrm>
            <a:off x="4038600" y="6356350"/>
            <a:ext cx="4114800" cy="365125"/>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0" name="Google Shape;1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9.png"/><Relationship Id="rId4" Type="http://schemas.openxmlformats.org/officeDocument/2006/relationships/image" Target="../media/image7.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24.png"/><Relationship Id="rId5" Type="http://schemas.openxmlformats.org/officeDocument/2006/relationships/image" Target="../media/image31.png"/><Relationship Id="rId6"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2.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5.png"/><Relationship Id="rId4" Type="http://schemas.openxmlformats.org/officeDocument/2006/relationships/image" Target="../media/image44.png"/><Relationship Id="rId5"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chemeClr val="dk1"/>
              </a:buClr>
              <a:buSzPts val="6000"/>
              <a:buFont typeface="Calibri"/>
              <a:buNone/>
            </a:pPr>
            <a:r>
              <a:rPr lang="en-US"/>
              <a:t>Buffer Overflow Attack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f4d850f3e4_0_0"/>
          <p:cNvSpPr txBox="1"/>
          <p:nvPr>
            <p:ph type="title"/>
          </p:nvPr>
        </p:nvSpPr>
        <p:spPr>
          <a:xfrm>
            <a:off x="415600" y="593367"/>
            <a:ext cx="11360700" cy="76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US"/>
              <a:t>Acknowledgement</a:t>
            </a:r>
            <a:endParaRPr/>
          </a:p>
        </p:txBody>
      </p:sp>
      <p:sp>
        <p:nvSpPr>
          <p:cNvPr id="94" name="Google Shape;94;g3f4d850f3e4_0_0"/>
          <p:cNvSpPr txBox="1"/>
          <p:nvPr>
            <p:ph idx="1" type="body"/>
          </p:nvPr>
        </p:nvSpPr>
        <p:spPr>
          <a:xfrm>
            <a:off x="415600" y="1536633"/>
            <a:ext cx="11360700" cy="4555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US"/>
              <a:t>Abdur Rashid Tushar, Lecturer, CSE, BUET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ctrTitle"/>
          </p:nvPr>
        </p:nvSpPr>
        <p:spPr>
          <a:xfrm>
            <a:off x="477550" y="225397"/>
            <a:ext cx="9144000" cy="1655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Clr>
                <a:schemeClr val="dk1"/>
              </a:buClr>
              <a:buSzPts val="4400"/>
              <a:buFont typeface="Calibri"/>
              <a:buNone/>
            </a:pPr>
            <a:r>
              <a:rPr lang="en-US" sz="4400"/>
              <a:t>Outline</a:t>
            </a:r>
            <a:endParaRPr sz="4400"/>
          </a:p>
        </p:txBody>
      </p:sp>
      <p:sp>
        <p:nvSpPr>
          <p:cNvPr id="100" name="Google Shape;100;p2"/>
          <p:cNvSpPr txBox="1"/>
          <p:nvPr>
            <p:ph idx="1" type="subTitle"/>
          </p:nvPr>
        </p:nvSpPr>
        <p:spPr>
          <a:xfrm>
            <a:off x="477550" y="1881125"/>
            <a:ext cx="10547700" cy="4459800"/>
          </a:xfrm>
          <a:prstGeom prst="rect">
            <a:avLst/>
          </a:prstGeom>
          <a:noFill/>
          <a:ln>
            <a:noFill/>
          </a:ln>
        </p:spPr>
        <p:txBody>
          <a:bodyPr anchorCtr="0" anchor="t" bIns="91425" lIns="91425" spcFirstLastPara="1" rIns="91425" wrap="square" tIns="91425">
            <a:noAutofit/>
          </a:bodyPr>
          <a:lstStyle/>
          <a:p>
            <a:pPr indent="-419100" lvl="0" marL="457200" rtl="0" algn="l">
              <a:lnSpc>
                <a:spcPct val="90000"/>
              </a:lnSpc>
              <a:spcBef>
                <a:spcPts val="0"/>
              </a:spcBef>
              <a:spcAft>
                <a:spcPts val="0"/>
              </a:spcAft>
              <a:buSzPts val="3000"/>
              <a:buChar char="●"/>
            </a:pPr>
            <a:r>
              <a:rPr lang="en-US" sz="3000"/>
              <a:t>Understanding of Stack Layout</a:t>
            </a:r>
            <a:endParaRPr sz="3000"/>
          </a:p>
          <a:p>
            <a:pPr indent="-419100" lvl="0" marL="457200" rtl="0" algn="l">
              <a:lnSpc>
                <a:spcPct val="90000"/>
              </a:lnSpc>
              <a:spcBef>
                <a:spcPts val="0"/>
              </a:spcBef>
              <a:spcAft>
                <a:spcPts val="0"/>
              </a:spcAft>
              <a:buSzPts val="3000"/>
              <a:buChar char="●"/>
            </a:pPr>
            <a:r>
              <a:rPr lang="en-US" sz="3000"/>
              <a:t>Vulnerable code</a:t>
            </a:r>
            <a:endParaRPr sz="3000"/>
          </a:p>
          <a:p>
            <a:pPr indent="-419100" lvl="0" marL="457200" rtl="0" algn="l">
              <a:lnSpc>
                <a:spcPct val="90000"/>
              </a:lnSpc>
              <a:spcBef>
                <a:spcPts val="0"/>
              </a:spcBef>
              <a:spcAft>
                <a:spcPts val="0"/>
              </a:spcAft>
              <a:buSzPts val="3000"/>
              <a:buChar char="●"/>
            </a:pPr>
            <a:r>
              <a:rPr lang="en-US" sz="3000"/>
              <a:t>Challenges in exploitation</a:t>
            </a:r>
            <a:endParaRPr sz="3000"/>
          </a:p>
          <a:p>
            <a:pPr indent="-419100" lvl="0" marL="457200" rtl="0" algn="l">
              <a:lnSpc>
                <a:spcPct val="90000"/>
              </a:lnSpc>
              <a:spcBef>
                <a:spcPts val="0"/>
              </a:spcBef>
              <a:spcAft>
                <a:spcPts val="0"/>
              </a:spcAft>
              <a:buSzPts val="3000"/>
              <a:buChar char="●"/>
            </a:pPr>
            <a:r>
              <a:rPr lang="en-US" sz="3000"/>
              <a:t>Shellcode</a:t>
            </a:r>
            <a:endParaRPr sz="3000"/>
          </a:p>
          <a:p>
            <a:pPr indent="-419100" lvl="0" marL="457200" rtl="0" algn="l">
              <a:lnSpc>
                <a:spcPct val="90000"/>
              </a:lnSpc>
              <a:spcBef>
                <a:spcPts val="0"/>
              </a:spcBef>
              <a:spcAft>
                <a:spcPts val="0"/>
              </a:spcAft>
              <a:buSzPts val="3000"/>
              <a:buChar char="●"/>
            </a:pPr>
            <a:r>
              <a:rPr lang="en-US" sz="3000"/>
              <a:t>Countermeasures</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3"/>
          <p:cNvPicPr preferRelativeResize="0"/>
          <p:nvPr/>
        </p:nvPicPr>
        <p:blipFill rotWithShape="1">
          <a:blip r:embed="rId3">
            <a:alphaModFix/>
          </a:blip>
          <a:srcRect b="0" l="0" r="0" t="0"/>
          <a:stretch/>
        </p:blipFill>
        <p:spPr>
          <a:xfrm>
            <a:off x="6533999" y="1234063"/>
            <a:ext cx="5247746" cy="4862512"/>
          </a:xfrm>
          <a:prstGeom prst="rect">
            <a:avLst/>
          </a:prstGeom>
          <a:noFill/>
          <a:ln>
            <a:noFill/>
          </a:ln>
        </p:spPr>
      </p:pic>
      <p:sp>
        <p:nvSpPr>
          <p:cNvPr id="106" name="Google Shape;10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lang="en-US"/>
              <a:t>Program Memory Stack</a:t>
            </a:r>
            <a:endParaRPr/>
          </a:p>
        </p:txBody>
      </p:sp>
      <p:pic>
        <p:nvPicPr>
          <p:cNvPr id="107" name="Google Shape;107;p3"/>
          <p:cNvPicPr preferRelativeResize="0"/>
          <p:nvPr/>
        </p:nvPicPr>
        <p:blipFill rotWithShape="1">
          <a:blip r:embed="rId4">
            <a:alphaModFix/>
          </a:blip>
          <a:srcRect b="0" l="0" r="0" t="0"/>
          <a:stretch/>
        </p:blipFill>
        <p:spPr>
          <a:xfrm>
            <a:off x="763450" y="5503628"/>
            <a:ext cx="4770575" cy="655147"/>
          </a:xfrm>
          <a:prstGeom prst="rect">
            <a:avLst/>
          </a:prstGeom>
          <a:noFill/>
          <a:ln>
            <a:noFill/>
          </a:ln>
        </p:spPr>
      </p:pic>
      <p:sp>
        <p:nvSpPr>
          <p:cNvPr id="108" name="Google Shape;108;p3"/>
          <p:cNvSpPr txBox="1"/>
          <p:nvPr/>
        </p:nvSpPr>
        <p:spPr>
          <a:xfrm>
            <a:off x="6228329" y="3331262"/>
            <a:ext cx="1791739" cy="100987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ptr</a:t>
            </a:r>
            <a:r>
              <a:rPr b="0" i="0" lang="en-US" sz="1800" u="none" cap="none" strike="noStrike">
                <a:solidFill>
                  <a:srgbClr val="000000"/>
                </a:solidFill>
                <a:latin typeface="Arial"/>
                <a:ea typeface="Arial"/>
                <a:cs typeface="Arial"/>
                <a:sym typeface="Arial"/>
              </a:rPr>
              <a:t> points to the memory here</a:t>
            </a:r>
            <a:endParaRPr b="0" i="0" sz="1800" u="none" cap="none" strike="noStrike">
              <a:solidFill>
                <a:srgbClr val="000000"/>
              </a:solidFill>
              <a:latin typeface="Arial"/>
              <a:ea typeface="Arial"/>
              <a:cs typeface="Arial"/>
              <a:sym typeface="Arial"/>
            </a:endParaRPr>
          </a:p>
        </p:txBody>
      </p:sp>
      <p:sp>
        <p:nvSpPr>
          <p:cNvPr id="109" name="Google Shape;109;p3"/>
          <p:cNvSpPr txBox="1"/>
          <p:nvPr/>
        </p:nvSpPr>
        <p:spPr>
          <a:xfrm>
            <a:off x="6389914" y="2231375"/>
            <a:ext cx="1015711" cy="37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a,b, ptr</a:t>
            </a:r>
            <a:endParaRPr b="0" i="0" sz="1800" u="none" cap="none" strike="noStrike">
              <a:solidFill>
                <a:srgbClr val="000000"/>
              </a:solidFill>
              <a:latin typeface="Arial"/>
              <a:ea typeface="Arial"/>
              <a:cs typeface="Arial"/>
              <a:sym typeface="Arial"/>
            </a:endParaRPr>
          </a:p>
        </p:txBody>
      </p:sp>
      <p:sp>
        <p:nvSpPr>
          <p:cNvPr id="110" name="Google Shape;110;p3"/>
          <p:cNvSpPr txBox="1"/>
          <p:nvPr/>
        </p:nvSpPr>
        <p:spPr>
          <a:xfrm>
            <a:off x="6994625" y="4327988"/>
            <a:ext cx="411000" cy="37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y</a:t>
            </a:r>
            <a:endParaRPr b="0" i="0" sz="1800" u="none" cap="none" strike="noStrike">
              <a:solidFill>
                <a:srgbClr val="000000"/>
              </a:solidFill>
              <a:latin typeface="Arial"/>
              <a:ea typeface="Arial"/>
              <a:cs typeface="Arial"/>
              <a:sym typeface="Arial"/>
            </a:endParaRPr>
          </a:p>
        </p:txBody>
      </p:sp>
      <p:cxnSp>
        <p:nvCxnSpPr>
          <p:cNvPr id="111" name="Google Shape;111;p3"/>
          <p:cNvCxnSpPr>
            <a:stCxn id="109" idx="3"/>
          </p:cNvCxnSpPr>
          <p:nvPr/>
        </p:nvCxnSpPr>
        <p:spPr>
          <a:xfrm flipH="1" rot="10800000">
            <a:off x="7405625" y="2416775"/>
            <a:ext cx="1003500" cy="1500"/>
          </a:xfrm>
          <a:prstGeom prst="straightConnector1">
            <a:avLst/>
          </a:prstGeom>
          <a:noFill/>
          <a:ln cap="flat" cmpd="sng" w="9525">
            <a:solidFill>
              <a:srgbClr val="FF0000"/>
            </a:solidFill>
            <a:prstDash val="solid"/>
            <a:round/>
            <a:headEnd len="sm" w="sm" type="none"/>
            <a:tailEnd len="lg" w="lg" type="triangle"/>
          </a:ln>
        </p:spPr>
      </p:cxnSp>
      <p:cxnSp>
        <p:nvCxnSpPr>
          <p:cNvPr id="112" name="Google Shape;112;p3"/>
          <p:cNvCxnSpPr/>
          <p:nvPr/>
        </p:nvCxnSpPr>
        <p:spPr>
          <a:xfrm>
            <a:off x="8020068" y="3784301"/>
            <a:ext cx="426257" cy="1"/>
          </a:xfrm>
          <a:prstGeom prst="straightConnector1">
            <a:avLst/>
          </a:prstGeom>
          <a:noFill/>
          <a:ln cap="flat" cmpd="sng" w="9525">
            <a:solidFill>
              <a:srgbClr val="FF0000"/>
            </a:solidFill>
            <a:prstDash val="solid"/>
            <a:round/>
            <a:headEnd len="sm" w="sm" type="none"/>
            <a:tailEnd len="lg" w="lg" type="triangle"/>
          </a:ln>
        </p:spPr>
      </p:cxnSp>
      <p:cxnSp>
        <p:nvCxnSpPr>
          <p:cNvPr id="113" name="Google Shape;113;p3"/>
          <p:cNvCxnSpPr>
            <a:stCxn id="110" idx="3"/>
          </p:cNvCxnSpPr>
          <p:nvPr/>
        </p:nvCxnSpPr>
        <p:spPr>
          <a:xfrm flipH="1" rot="10800000">
            <a:off x="7405625" y="4511888"/>
            <a:ext cx="1040700" cy="3000"/>
          </a:xfrm>
          <a:prstGeom prst="straightConnector1">
            <a:avLst/>
          </a:prstGeom>
          <a:noFill/>
          <a:ln cap="flat" cmpd="sng" w="9525">
            <a:solidFill>
              <a:srgbClr val="FF0000"/>
            </a:solidFill>
            <a:prstDash val="solid"/>
            <a:round/>
            <a:headEnd len="sm" w="sm" type="none"/>
            <a:tailEnd len="lg" w="lg" type="triangle"/>
          </a:ln>
        </p:spPr>
      </p:cxnSp>
      <p:cxnSp>
        <p:nvCxnSpPr>
          <p:cNvPr id="114" name="Google Shape;114;p3"/>
          <p:cNvCxnSpPr/>
          <p:nvPr/>
        </p:nvCxnSpPr>
        <p:spPr>
          <a:xfrm>
            <a:off x="5239367" y="5174838"/>
            <a:ext cx="0" cy="0"/>
          </a:xfrm>
          <a:prstGeom prst="straightConnector1">
            <a:avLst/>
          </a:prstGeom>
          <a:noFill/>
          <a:ln cap="flat" cmpd="sng" w="9525">
            <a:solidFill>
              <a:srgbClr val="FF0000"/>
            </a:solidFill>
            <a:prstDash val="solid"/>
            <a:round/>
            <a:headEnd len="sm" w="sm" type="none"/>
            <a:tailEnd len="lg" w="lg" type="triangle"/>
          </a:ln>
        </p:spPr>
      </p:cxnSp>
      <p:cxnSp>
        <p:nvCxnSpPr>
          <p:cNvPr id="115" name="Google Shape;115;p3"/>
          <p:cNvCxnSpPr/>
          <p:nvPr/>
        </p:nvCxnSpPr>
        <p:spPr>
          <a:xfrm flipH="1" rot="10800000">
            <a:off x="7405625" y="5037313"/>
            <a:ext cx="1040700" cy="3000"/>
          </a:xfrm>
          <a:prstGeom prst="straightConnector1">
            <a:avLst/>
          </a:prstGeom>
          <a:noFill/>
          <a:ln cap="flat" cmpd="sng" w="9525">
            <a:solidFill>
              <a:srgbClr val="FF0000"/>
            </a:solidFill>
            <a:prstDash val="solid"/>
            <a:round/>
            <a:headEnd len="sm" w="sm" type="none"/>
            <a:tailEnd len="lg" w="lg" type="triangle"/>
          </a:ln>
        </p:spPr>
      </p:cxnSp>
      <p:pic>
        <p:nvPicPr>
          <p:cNvPr id="116" name="Google Shape;116;p3"/>
          <p:cNvPicPr preferRelativeResize="0"/>
          <p:nvPr/>
        </p:nvPicPr>
        <p:blipFill rotWithShape="1">
          <a:blip r:embed="rId5">
            <a:alphaModFix/>
          </a:blip>
          <a:srcRect b="0" l="0" r="0" t="0"/>
          <a:stretch/>
        </p:blipFill>
        <p:spPr>
          <a:xfrm>
            <a:off x="838200" y="1547925"/>
            <a:ext cx="4695825" cy="4092025"/>
          </a:xfrm>
          <a:prstGeom prst="rect">
            <a:avLst/>
          </a:prstGeom>
          <a:noFill/>
          <a:ln>
            <a:noFill/>
          </a:ln>
        </p:spPr>
      </p:pic>
      <p:sp>
        <p:nvSpPr>
          <p:cNvPr id="117" name="Google Shape;117;p3"/>
          <p:cNvSpPr txBox="1"/>
          <p:nvPr/>
        </p:nvSpPr>
        <p:spPr>
          <a:xfrm>
            <a:off x="6994625" y="4776100"/>
            <a:ext cx="411000" cy="37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g3f4d5c25680_0_0"/>
          <p:cNvPicPr preferRelativeResize="0"/>
          <p:nvPr/>
        </p:nvPicPr>
        <p:blipFill>
          <a:blip r:embed="rId3">
            <a:alphaModFix/>
          </a:blip>
          <a:stretch>
            <a:fillRect/>
          </a:stretch>
        </p:blipFill>
        <p:spPr>
          <a:xfrm>
            <a:off x="1248438" y="668100"/>
            <a:ext cx="9695125" cy="5521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Order of the function arguments in stack</a:t>
            </a:r>
            <a:endParaRPr/>
          </a:p>
        </p:txBody>
      </p:sp>
      <p:sp>
        <p:nvSpPr>
          <p:cNvPr id="128" name="Google Shape;128;p4"/>
          <p:cNvSpPr txBox="1"/>
          <p:nvPr>
            <p:ph idx="1" type="body"/>
          </p:nvPr>
        </p:nvSpPr>
        <p:spPr>
          <a:xfrm>
            <a:off x="838200" y="1451900"/>
            <a:ext cx="10515600" cy="6271800"/>
          </a:xfrm>
          <a:prstGeom prst="rect">
            <a:avLst/>
          </a:prstGeom>
          <a:noFill/>
          <a:ln>
            <a:noFill/>
          </a:ln>
        </p:spPr>
        <p:txBody>
          <a:bodyPr anchorCtr="0" anchor="t" bIns="91425" lIns="91425" spcFirstLastPara="1" rIns="91425" wrap="square" tIns="91425">
            <a:noAutofit/>
          </a:bodyPr>
          <a:lstStyle/>
          <a:p>
            <a:pPr indent="-69850" lvl="0" marL="177800" rtl="0" algn="l">
              <a:lnSpc>
                <a:spcPct val="90000"/>
              </a:lnSpc>
              <a:spcBef>
                <a:spcPts val="0"/>
              </a:spcBef>
              <a:spcAft>
                <a:spcPts val="0"/>
              </a:spcAft>
              <a:buClr>
                <a:schemeClr val="dk1"/>
              </a:buClr>
              <a:buSzPts val="1100"/>
              <a:buFont typeface="Arial"/>
              <a:buNone/>
            </a:pPr>
            <a:r>
              <a:t/>
            </a:r>
            <a:endParaRPr sz="1800">
              <a:solidFill>
                <a:srgbClr val="0B5394"/>
              </a:solidFill>
            </a:endParaRPr>
          </a:p>
          <a:p>
            <a:pPr indent="-50800" lvl="0" marL="228600" rtl="0" algn="l">
              <a:lnSpc>
                <a:spcPct val="90000"/>
              </a:lnSpc>
              <a:spcBef>
                <a:spcPts val="0"/>
              </a:spcBef>
              <a:spcAft>
                <a:spcPts val="0"/>
              </a:spcAft>
              <a:buSzPts val="2800"/>
              <a:buNone/>
            </a:pPr>
            <a:r>
              <a:t/>
            </a:r>
            <a:endParaRPr sz="1800"/>
          </a:p>
        </p:txBody>
      </p:sp>
      <p:pic>
        <p:nvPicPr>
          <p:cNvPr id="129" name="Google Shape;129;p4"/>
          <p:cNvPicPr preferRelativeResize="0"/>
          <p:nvPr/>
        </p:nvPicPr>
        <p:blipFill rotWithShape="1">
          <a:blip r:embed="rId3">
            <a:alphaModFix/>
          </a:blip>
          <a:srcRect b="0" l="0" r="0" t="0"/>
          <a:stretch/>
        </p:blipFill>
        <p:spPr>
          <a:xfrm>
            <a:off x="915063" y="1690813"/>
            <a:ext cx="4905375" cy="2695575"/>
          </a:xfrm>
          <a:prstGeom prst="rect">
            <a:avLst/>
          </a:prstGeom>
          <a:noFill/>
          <a:ln>
            <a:noFill/>
          </a:ln>
        </p:spPr>
      </p:pic>
      <p:pic>
        <p:nvPicPr>
          <p:cNvPr id="130" name="Google Shape;130;p4"/>
          <p:cNvPicPr preferRelativeResize="0"/>
          <p:nvPr/>
        </p:nvPicPr>
        <p:blipFill rotWithShape="1">
          <a:blip r:embed="rId4">
            <a:alphaModFix/>
          </a:blip>
          <a:srcRect b="0" l="0" r="0" t="0"/>
          <a:stretch/>
        </p:blipFill>
        <p:spPr>
          <a:xfrm>
            <a:off x="852488" y="4958800"/>
            <a:ext cx="10487025" cy="1600200"/>
          </a:xfrm>
          <a:prstGeom prst="rect">
            <a:avLst/>
          </a:prstGeom>
          <a:noFill/>
          <a:ln>
            <a:noFill/>
          </a:ln>
        </p:spPr>
      </p:pic>
      <p:sp>
        <p:nvSpPr>
          <p:cNvPr id="131" name="Google Shape;131;p4"/>
          <p:cNvSpPr txBox="1"/>
          <p:nvPr/>
        </p:nvSpPr>
        <p:spPr>
          <a:xfrm>
            <a:off x="7769450" y="2052974"/>
            <a:ext cx="3504300" cy="2339700"/>
          </a:xfrm>
          <a:prstGeom prst="rect">
            <a:avLst/>
          </a:prstGeom>
          <a:solidFill>
            <a:schemeClr val="lt2"/>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mov eax, [ebp + 12]</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mov edx, [ebp + 8]</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add eax, edx</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mov [ebp - 8], eax</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32" name="Google Shape;132;p4"/>
          <p:cNvSpPr txBox="1"/>
          <p:nvPr/>
        </p:nvSpPr>
        <p:spPr>
          <a:xfrm>
            <a:off x="2279350" y="4343200"/>
            <a:ext cx="108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AT&amp;T</a:t>
            </a:r>
            <a:endParaRPr sz="2800">
              <a:solidFill>
                <a:schemeClr val="dk1"/>
              </a:solidFill>
              <a:latin typeface="Calibri"/>
              <a:ea typeface="Calibri"/>
              <a:cs typeface="Calibri"/>
              <a:sym typeface="Calibri"/>
            </a:endParaRPr>
          </a:p>
        </p:txBody>
      </p:sp>
      <p:sp>
        <p:nvSpPr>
          <p:cNvPr id="133" name="Google Shape;133;p4"/>
          <p:cNvSpPr txBox="1"/>
          <p:nvPr/>
        </p:nvSpPr>
        <p:spPr>
          <a:xfrm>
            <a:off x="6312693" y="2623129"/>
            <a:ext cx="108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Intel</a:t>
            </a:r>
            <a:endParaRPr sz="2800">
              <a:solidFill>
                <a:schemeClr val="dk1"/>
              </a:solidFill>
              <a:latin typeface="Calibri"/>
              <a:ea typeface="Calibri"/>
              <a:cs typeface="Calibri"/>
              <a:sym typeface="Calibri"/>
            </a:endParaRPr>
          </a:p>
        </p:txBody>
      </p:sp>
      <p:cxnSp>
        <p:nvCxnSpPr>
          <p:cNvPr id="134" name="Google Shape;134;p4"/>
          <p:cNvCxnSpPr>
            <a:stCxn id="129" idx="3"/>
            <a:endCxn id="131" idx="1"/>
          </p:cNvCxnSpPr>
          <p:nvPr/>
        </p:nvCxnSpPr>
        <p:spPr>
          <a:xfrm>
            <a:off x="5820438" y="3038601"/>
            <a:ext cx="1949100" cy="184200"/>
          </a:xfrm>
          <a:prstGeom prst="straightConnector1">
            <a:avLst/>
          </a:prstGeom>
          <a:noFill/>
          <a:ln cap="flat" cmpd="sng" w="9525">
            <a:solidFill>
              <a:schemeClr val="dk2"/>
            </a:solidFill>
            <a:prstDash val="solid"/>
            <a:round/>
            <a:headEnd len="med" w="med" type="none"/>
            <a:tailEnd len="med" w="med" type="triangle"/>
          </a:ln>
        </p:spPr>
      </p:cxnSp>
      <p:cxnSp>
        <p:nvCxnSpPr>
          <p:cNvPr id="135" name="Google Shape;135;p4"/>
          <p:cNvCxnSpPr>
            <a:stCxn id="129" idx="2"/>
          </p:cNvCxnSpPr>
          <p:nvPr/>
        </p:nvCxnSpPr>
        <p:spPr>
          <a:xfrm flipH="1">
            <a:off x="3176650" y="4386388"/>
            <a:ext cx="191100" cy="577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p:nvPr/>
        </p:nvSpPr>
        <p:spPr>
          <a:xfrm>
            <a:off x="896950" y="1930950"/>
            <a:ext cx="3924300" cy="2653500"/>
          </a:xfrm>
          <a:prstGeom prst="rect">
            <a:avLst/>
          </a:prstGeom>
          <a:solidFill>
            <a:schemeClr val="lt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5"/>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Function Call Stack</a:t>
            </a:r>
            <a:endParaRPr/>
          </a:p>
        </p:txBody>
      </p:sp>
      <p:sp>
        <p:nvSpPr>
          <p:cNvPr id="142" name="Google Shape;142;p5"/>
          <p:cNvSpPr txBox="1"/>
          <p:nvPr>
            <p:ph idx="1" type="body"/>
          </p:nvPr>
        </p:nvSpPr>
        <p:spPr>
          <a:xfrm>
            <a:off x="896950" y="1930950"/>
            <a:ext cx="3924300" cy="265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void f(int a, int b)</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  int x;</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void main()</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  f(1,2);</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  printf("hello world");</a:t>
            </a:r>
            <a:endParaRPr sz="16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600">
                <a:solidFill>
                  <a:srgbClr val="000000"/>
                </a:solidFill>
                <a:latin typeface="Courier New"/>
                <a:ea typeface="Courier New"/>
                <a:cs typeface="Courier New"/>
                <a:sym typeface="Courier New"/>
              </a:rPr>
              <a:t>}</a:t>
            </a:r>
            <a:endParaRPr sz="1600">
              <a:solidFill>
                <a:srgbClr val="000000"/>
              </a:solidFill>
              <a:latin typeface="Courier New"/>
              <a:ea typeface="Courier New"/>
              <a:cs typeface="Courier New"/>
              <a:sym typeface="Courier New"/>
            </a:endParaRPr>
          </a:p>
          <a:p>
            <a:pPr indent="-50800" lvl="0" marL="228600" rtl="0" algn="l">
              <a:lnSpc>
                <a:spcPct val="90000"/>
              </a:lnSpc>
              <a:spcBef>
                <a:spcPts val="0"/>
              </a:spcBef>
              <a:spcAft>
                <a:spcPts val="0"/>
              </a:spcAft>
              <a:buSzPts val="2800"/>
              <a:buNone/>
            </a:pPr>
            <a:r>
              <a:t/>
            </a:r>
            <a:endParaRPr sz="1600">
              <a:solidFill>
                <a:srgbClr val="000000"/>
              </a:solidFill>
              <a:latin typeface="Courier New"/>
              <a:ea typeface="Courier New"/>
              <a:cs typeface="Courier New"/>
              <a:sym typeface="Courier New"/>
            </a:endParaRPr>
          </a:p>
        </p:txBody>
      </p:sp>
      <p:pic>
        <p:nvPicPr>
          <p:cNvPr id="143" name="Google Shape;143;p5"/>
          <p:cNvPicPr preferRelativeResize="0"/>
          <p:nvPr/>
        </p:nvPicPr>
        <p:blipFill rotWithShape="1">
          <a:blip r:embed="rId3">
            <a:alphaModFix/>
          </a:blip>
          <a:srcRect b="0" l="0" r="0" t="0"/>
          <a:stretch/>
        </p:blipFill>
        <p:spPr>
          <a:xfrm>
            <a:off x="5838825" y="1825629"/>
            <a:ext cx="5514975" cy="435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6"/>
          <p:cNvSpPr txBox="1"/>
          <p:nvPr>
            <p:ph type="title"/>
          </p:nvPr>
        </p:nvSpPr>
        <p:spPr>
          <a:xfrm>
            <a:off x="0" y="334075"/>
            <a:ext cx="11996700" cy="13728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Stack Layout for Function Call Chain</a:t>
            </a:r>
            <a:endParaRPr/>
          </a:p>
        </p:txBody>
      </p:sp>
      <p:pic>
        <p:nvPicPr>
          <p:cNvPr id="149" name="Google Shape;149;p6"/>
          <p:cNvPicPr preferRelativeResize="0"/>
          <p:nvPr/>
        </p:nvPicPr>
        <p:blipFill rotWithShape="1">
          <a:blip r:embed="rId3">
            <a:alphaModFix/>
          </a:blip>
          <a:srcRect b="0" l="0" r="0" t="0"/>
          <a:stretch/>
        </p:blipFill>
        <p:spPr>
          <a:xfrm>
            <a:off x="115025" y="1475825"/>
            <a:ext cx="6412961" cy="4893424"/>
          </a:xfrm>
          <a:prstGeom prst="rect">
            <a:avLst/>
          </a:prstGeom>
          <a:noFill/>
          <a:ln>
            <a:noFill/>
          </a:ln>
        </p:spPr>
      </p:pic>
      <p:sp>
        <p:nvSpPr>
          <p:cNvPr id="150" name="Google Shape;150;p6"/>
          <p:cNvSpPr txBox="1"/>
          <p:nvPr/>
        </p:nvSpPr>
        <p:spPr>
          <a:xfrm>
            <a:off x="6839325" y="2183400"/>
            <a:ext cx="4559400" cy="430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     main()</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0" lvl="0" marL="13716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foo()</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a:t>
            </a:r>
            <a:endParaRPr b="0" i="0" sz="2400" u="none" cap="none" strike="noStrike">
              <a:solidFill>
                <a:srgbClr val="000000"/>
              </a:solidFill>
              <a:latin typeface="Arial"/>
              <a:ea typeface="Arial"/>
              <a:cs typeface="Arial"/>
              <a:sym typeface="Arial"/>
            </a:endParaRPr>
          </a:p>
          <a:p>
            <a:pPr indent="0" lvl="0" marL="13716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bar()</a:t>
            </a:r>
            <a:endParaRPr b="0" i="0" sz="2400" u="none" cap="none" strike="noStrike">
              <a:solidFill>
                <a:srgbClr val="000000"/>
              </a:solidFill>
              <a:latin typeface="Arial"/>
              <a:ea typeface="Arial"/>
              <a:cs typeface="Arial"/>
              <a:sym typeface="Arial"/>
            </a:endParaRPr>
          </a:p>
          <a:p>
            <a:pPr indent="0" lvl="0" marL="13716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151" name="Google Shape;151;p6"/>
          <p:cNvCxnSpPr/>
          <p:nvPr/>
        </p:nvCxnSpPr>
        <p:spPr>
          <a:xfrm>
            <a:off x="8745350" y="2790525"/>
            <a:ext cx="0" cy="784800"/>
          </a:xfrm>
          <a:prstGeom prst="straightConnector1">
            <a:avLst/>
          </a:prstGeom>
          <a:noFill/>
          <a:ln cap="flat" cmpd="sng" w="9525">
            <a:solidFill>
              <a:schemeClr val="dk2"/>
            </a:solidFill>
            <a:prstDash val="solid"/>
            <a:round/>
            <a:headEnd len="sm" w="sm" type="none"/>
            <a:tailEnd len="lg" w="lg" type="triangle"/>
          </a:ln>
        </p:spPr>
      </p:cxnSp>
      <p:cxnSp>
        <p:nvCxnSpPr>
          <p:cNvPr id="152" name="Google Shape;152;p6"/>
          <p:cNvCxnSpPr/>
          <p:nvPr/>
        </p:nvCxnSpPr>
        <p:spPr>
          <a:xfrm>
            <a:off x="8745350" y="4210700"/>
            <a:ext cx="0" cy="822300"/>
          </a:xfrm>
          <a:prstGeom prst="straightConnector1">
            <a:avLst/>
          </a:prstGeom>
          <a:noFill/>
          <a:ln cap="flat" cmpd="sng" w="9525">
            <a:solidFill>
              <a:schemeClr val="dk2"/>
            </a:solidFill>
            <a:prstDash val="solid"/>
            <a:round/>
            <a:headEnd len="sm" w="sm" type="none"/>
            <a:tailEnd len="lg" w="lg"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Vulnerable Program</a:t>
            </a:r>
            <a:endParaRPr/>
          </a:p>
        </p:txBody>
      </p:sp>
      <p:sp>
        <p:nvSpPr>
          <p:cNvPr id="158" name="Google Shape;158;p7"/>
          <p:cNvSpPr txBox="1"/>
          <p:nvPr>
            <p:ph idx="1" type="body"/>
          </p:nvPr>
        </p:nvSpPr>
        <p:spPr>
          <a:xfrm>
            <a:off x="838200" y="1825625"/>
            <a:ext cx="6685800" cy="4351200"/>
          </a:xfrm>
          <a:prstGeom prst="rect">
            <a:avLst/>
          </a:prstGeom>
          <a:noFill/>
          <a:ln>
            <a:noFill/>
          </a:ln>
        </p:spPr>
        <p:txBody>
          <a:bodyPr anchorCtr="0" anchor="t" bIns="91425" lIns="91425" spcFirstLastPara="1" rIns="91425" wrap="square" tIns="91425">
            <a:noAutofit/>
          </a:bodyPr>
          <a:lstStyle/>
          <a:p>
            <a:pPr indent="-50800" lvl="0" marL="228600" rtl="0" algn="l">
              <a:lnSpc>
                <a:spcPct val="90000"/>
              </a:lnSpc>
              <a:spcBef>
                <a:spcPts val="0"/>
              </a:spcBef>
              <a:spcAft>
                <a:spcPts val="0"/>
              </a:spcAft>
              <a:buSzPts val="2800"/>
              <a:buNone/>
            </a:pPr>
            <a:r>
              <a:t/>
            </a:r>
            <a:endParaRPr b="0" i="0" sz="2800" u="none" cap="none" strike="noStrike">
              <a:solidFill>
                <a:schemeClr val="dk1"/>
              </a:solidFill>
              <a:latin typeface="Calibri"/>
              <a:ea typeface="Calibri"/>
              <a:cs typeface="Calibri"/>
              <a:sym typeface="Calibri"/>
            </a:endParaRPr>
          </a:p>
        </p:txBody>
      </p:sp>
      <p:pic>
        <p:nvPicPr>
          <p:cNvPr id="159" name="Google Shape;159;p7"/>
          <p:cNvPicPr preferRelativeResize="0"/>
          <p:nvPr/>
        </p:nvPicPr>
        <p:blipFill rotWithShape="1">
          <a:blip r:embed="rId3">
            <a:alphaModFix/>
          </a:blip>
          <a:srcRect b="0" l="0" r="0" t="0"/>
          <a:stretch/>
        </p:blipFill>
        <p:spPr>
          <a:xfrm>
            <a:off x="838225" y="1825625"/>
            <a:ext cx="6685754" cy="4351200"/>
          </a:xfrm>
          <a:prstGeom prst="rect">
            <a:avLst/>
          </a:prstGeom>
          <a:noFill/>
          <a:ln>
            <a:noFill/>
          </a:ln>
        </p:spPr>
      </p:pic>
      <p:sp>
        <p:nvSpPr>
          <p:cNvPr id="160" name="Google Shape;160;p7"/>
          <p:cNvSpPr/>
          <p:nvPr/>
        </p:nvSpPr>
        <p:spPr>
          <a:xfrm>
            <a:off x="1428525" y="4463675"/>
            <a:ext cx="1343400" cy="406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1" name="Google Shape;161;p7"/>
          <p:cNvCxnSpPr/>
          <p:nvPr/>
        </p:nvCxnSpPr>
        <p:spPr>
          <a:xfrm rot="10800000">
            <a:off x="2877850" y="4629225"/>
            <a:ext cx="4489500" cy="21600"/>
          </a:xfrm>
          <a:prstGeom prst="straightConnector1">
            <a:avLst/>
          </a:prstGeom>
          <a:noFill/>
          <a:ln cap="flat" cmpd="sng" w="9525">
            <a:solidFill>
              <a:srgbClr val="FF0000"/>
            </a:solidFill>
            <a:prstDash val="solid"/>
            <a:round/>
            <a:headEnd len="sm" w="sm" type="none"/>
            <a:tailEnd len="lg" w="lg" type="triangle"/>
          </a:ln>
        </p:spPr>
      </p:cxnSp>
      <p:sp>
        <p:nvSpPr>
          <p:cNvPr id="162" name="Google Shape;162;p7"/>
          <p:cNvSpPr txBox="1"/>
          <p:nvPr/>
        </p:nvSpPr>
        <p:spPr>
          <a:xfrm>
            <a:off x="7848400" y="1781450"/>
            <a:ext cx="3999000" cy="4896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Reading 300 bytes of data from badfile.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Storing the file contents into a str variable of size 400 bytes.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Calling foo function with str as an argument.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Note : Badfile is created by the user and hence the contents are in control of the user.</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Vulnerable Program</a:t>
            </a:r>
            <a:endParaRPr/>
          </a:p>
        </p:txBody>
      </p:sp>
      <p:sp>
        <p:nvSpPr>
          <p:cNvPr id="168" name="Google Shape;168;p8"/>
          <p:cNvSpPr txBox="1"/>
          <p:nvPr>
            <p:ph idx="1" type="body"/>
          </p:nvPr>
        </p:nvSpPr>
        <p:spPr>
          <a:xfrm>
            <a:off x="838200" y="1876425"/>
            <a:ext cx="6284100" cy="4300500"/>
          </a:xfrm>
          <a:prstGeom prst="rect">
            <a:avLst/>
          </a:prstGeom>
          <a:noFill/>
          <a:ln>
            <a:noFill/>
          </a:ln>
        </p:spPr>
        <p:txBody>
          <a:bodyPr anchorCtr="0" anchor="t" bIns="91425" lIns="91425" spcFirstLastPara="1" rIns="91425" wrap="square" tIns="91425">
            <a:noAutofit/>
          </a:bodyPr>
          <a:lstStyle/>
          <a:p>
            <a:pPr indent="-50800" lvl="0" marL="228600" rtl="0" algn="l">
              <a:lnSpc>
                <a:spcPct val="90000"/>
              </a:lnSpc>
              <a:spcBef>
                <a:spcPts val="0"/>
              </a:spcBef>
              <a:spcAft>
                <a:spcPts val="0"/>
              </a:spcAft>
              <a:buSzPts val="2800"/>
              <a:buNone/>
            </a:pPr>
            <a:r>
              <a:t/>
            </a:r>
            <a:endParaRPr b="0" i="0" sz="2800" u="none" cap="none" strike="noStrike">
              <a:solidFill>
                <a:schemeClr val="dk1"/>
              </a:solidFill>
              <a:latin typeface="Calibri"/>
              <a:ea typeface="Calibri"/>
              <a:cs typeface="Calibri"/>
              <a:sym typeface="Calibri"/>
            </a:endParaRPr>
          </a:p>
        </p:txBody>
      </p:sp>
      <p:pic>
        <p:nvPicPr>
          <p:cNvPr id="169" name="Google Shape;169;p8"/>
          <p:cNvPicPr preferRelativeResize="0"/>
          <p:nvPr/>
        </p:nvPicPr>
        <p:blipFill rotWithShape="1">
          <a:blip r:embed="rId3">
            <a:alphaModFix/>
          </a:blip>
          <a:srcRect b="0" l="0" r="0" t="0"/>
          <a:stretch/>
        </p:blipFill>
        <p:spPr>
          <a:xfrm>
            <a:off x="298975" y="1682625"/>
            <a:ext cx="6823325" cy="4712925"/>
          </a:xfrm>
          <a:prstGeom prst="rect">
            <a:avLst/>
          </a:prstGeom>
          <a:noFill/>
          <a:ln>
            <a:noFill/>
          </a:ln>
        </p:spPr>
      </p:pic>
      <p:pic>
        <p:nvPicPr>
          <p:cNvPr id="170" name="Google Shape;170;p8"/>
          <p:cNvPicPr preferRelativeResize="0"/>
          <p:nvPr/>
        </p:nvPicPr>
        <p:blipFill rotWithShape="1">
          <a:blip r:embed="rId4">
            <a:alphaModFix/>
          </a:blip>
          <a:srcRect b="0" l="0" r="0" t="0"/>
          <a:stretch/>
        </p:blipFill>
        <p:spPr>
          <a:xfrm>
            <a:off x="7122300" y="1670200"/>
            <a:ext cx="5069700" cy="4712925"/>
          </a:xfrm>
          <a:prstGeom prst="rect">
            <a:avLst/>
          </a:prstGeom>
          <a:noFill/>
          <a:ln>
            <a:noFill/>
          </a:ln>
        </p:spPr>
      </p:pic>
      <p:sp>
        <p:nvSpPr>
          <p:cNvPr id="171" name="Google Shape;171;p8"/>
          <p:cNvSpPr/>
          <p:nvPr/>
        </p:nvSpPr>
        <p:spPr>
          <a:xfrm>
            <a:off x="3077200" y="5272400"/>
            <a:ext cx="895800" cy="123600"/>
          </a:xfrm>
          <a:prstGeom prst="leftArrow">
            <a:avLst>
              <a:gd fmla="val 50000" name="adj1"/>
              <a:gd fmla="val 50000" name="adj2"/>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Consequences of Buffer Overflow</a:t>
            </a:r>
            <a:endParaRPr/>
          </a:p>
        </p:txBody>
      </p:sp>
      <p:sp>
        <p:nvSpPr>
          <p:cNvPr id="177" name="Google Shape;177;p9"/>
          <p:cNvSpPr txBox="1"/>
          <p:nvPr>
            <p:ph idx="1" type="body"/>
          </p:nvPr>
        </p:nvSpPr>
        <p:spPr>
          <a:xfrm>
            <a:off x="838200" y="1825625"/>
            <a:ext cx="10515600" cy="4351200"/>
          </a:xfrm>
          <a:prstGeom prst="rect">
            <a:avLst/>
          </a:prstGeom>
          <a:noFill/>
          <a:ln>
            <a:noFill/>
          </a:ln>
        </p:spPr>
        <p:txBody>
          <a:bodyPr anchorCtr="0" anchor="t" bIns="91425" lIns="91425" spcFirstLastPara="1" rIns="91425" wrap="square" tIns="91425">
            <a:noAutofit/>
          </a:bodyPr>
          <a:lstStyle/>
          <a:p>
            <a:pPr indent="-50800" lvl="0" marL="228600" rtl="0" algn="l">
              <a:lnSpc>
                <a:spcPct val="90000"/>
              </a:lnSpc>
              <a:spcBef>
                <a:spcPts val="0"/>
              </a:spcBef>
              <a:spcAft>
                <a:spcPts val="0"/>
              </a:spcAft>
              <a:buSzPts val="2800"/>
              <a:buNone/>
            </a:pPr>
            <a:r>
              <a:rPr lang="en-US"/>
              <a:t>Overwriting return address with some random address can point to :</a:t>
            </a:r>
            <a:endParaRPr/>
          </a:p>
          <a:p>
            <a:pPr indent="-50800" lvl="0" marL="228600" rtl="0" algn="l">
              <a:lnSpc>
                <a:spcPct val="90000"/>
              </a:lnSpc>
              <a:spcBef>
                <a:spcPts val="0"/>
              </a:spcBef>
              <a:spcAft>
                <a:spcPts val="0"/>
              </a:spcAft>
              <a:buSzPts val="2800"/>
              <a:buNone/>
            </a:pPr>
            <a:r>
              <a:t/>
            </a:r>
            <a:endParaRPr/>
          </a:p>
          <a:p>
            <a:pPr indent="-406400" lvl="0" marL="457200" rtl="0" algn="l">
              <a:lnSpc>
                <a:spcPct val="90000"/>
              </a:lnSpc>
              <a:spcBef>
                <a:spcPts val="0"/>
              </a:spcBef>
              <a:spcAft>
                <a:spcPts val="0"/>
              </a:spcAft>
              <a:buSzPts val="2800"/>
              <a:buChar char="•"/>
            </a:pPr>
            <a:r>
              <a:rPr lang="en-US"/>
              <a:t>Invalid instruction</a:t>
            </a:r>
            <a:endParaRPr/>
          </a:p>
          <a:p>
            <a:pPr indent="-406400" lvl="0" marL="457200" rtl="0" algn="l">
              <a:lnSpc>
                <a:spcPct val="90000"/>
              </a:lnSpc>
              <a:spcBef>
                <a:spcPts val="0"/>
              </a:spcBef>
              <a:spcAft>
                <a:spcPts val="0"/>
              </a:spcAft>
              <a:buSzPts val="2800"/>
              <a:buChar char="•"/>
            </a:pPr>
            <a:r>
              <a:rPr lang="en-US"/>
              <a:t>Non-existing address</a:t>
            </a:r>
            <a:endParaRPr/>
          </a:p>
          <a:p>
            <a:pPr indent="-406400" lvl="0" marL="457200" rtl="0" algn="l">
              <a:lnSpc>
                <a:spcPct val="90000"/>
              </a:lnSpc>
              <a:spcBef>
                <a:spcPts val="0"/>
              </a:spcBef>
              <a:spcAft>
                <a:spcPts val="0"/>
              </a:spcAft>
              <a:buSzPts val="2800"/>
              <a:buChar char="•"/>
            </a:pPr>
            <a:r>
              <a:rPr lang="en-US"/>
              <a:t>Access violation</a:t>
            </a:r>
            <a:endParaRPr/>
          </a:p>
          <a:p>
            <a:pPr indent="-406400" lvl="0" marL="457200" rtl="0" algn="l">
              <a:lnSpc>
                <a:spcPct val="90000"/>
              </a:lnSpc>
              <a:spcBef>
                <a:spcPts val="0"/>
              </a:spcBef>
              <a:spcAft>
                <a:spcPts val="0"/>
              </a:spcAft>
              <a:buClr>
                <a:srgbClr val="FF0000"/>
              </a:buClr>
              <a:buSzPts val="2800"/>
              <a:buChar char="•"/>
            </a:pPr>
            <a:r>
              <a:rPr lang="en-US">
                <a:solidFill>
                  <a:srgbClr val="FF0000"/>
                </a:solidFill>
              </a:rPr>
              <a:t>Attacker’s code                   Malicious code to gain access</a:t>
            </a:r>
            <a:endParaRPr>
              <a:solidFill>
                <a:srgbClr val="FF0000"/>
              </a:solidFill>
            </a:endParaRPr>
          </a:p>
          <a:p>
            <a:pPr indent="-50800" lvl="0" marL="228600" rtl="0" algn="l">
              <a:lnSpc>
                <a:spcPct val="90000"/>
              </a:lnSpc>
              <a:spcBef>
                <a:spcPts val="0"/>
              </a:spcBef>
              <a:spcAft>
                <a:spcPts val="0"/>
              </a:spcAft>
              <a:buSzPts val="2800"/>
              <a:buNone/>
            </a:pPr>
            <a:r>
              <a:t/>
            </a:r>
            <a:endParaRPr>
              <a:solidFill>
                <a:srgbClr val="FF0000"/>
              </a:solidFill>
            </a:endParaRPr>
          </a:p>
          <a:p>
            <a:pPr indent="0" lvl="0" marL="177800" rtl="0" algn="l">
              <a:lnSpc>
                <a:spcPct val="90000"/>
              </a:lnSpc>
              <a:spcBef>
                <a:spcPts val="0"/>
              </a:spcBef>
              <a:spcAft>
                <a:spcPts val="0"/>
              </a:spcAft>
              <a:buSzPts val="2800"/>
              <a:buNone/>
            </a:pPr>
            <a:r>
              <a:t/>
            </a:r>
            <a:endParaRPr>
              <a:solidFill>
                <a:srgbClr val="FF0000"/>
              </a:solidFill>
            </a:endParaRPr>
          </a:p>
        </p:txBody>
      </p:sp>
      <p:cxnSp>
        <p:nvCxnSpPr>
          <p:cNvPr id="178" name="Google Shape;178;p9"/>
          <p:cNvCxnSpPr/>
          <p:nvPr/>
        </p:nvCxnSpPr>
        <p:spPr>
          <a:xfrm>
            <a:off x="3780267" y="4029854"/>
            <a:ext cx="1308000" cy="0"/>
          </a:xfrm>
          <a:prstGeom prst="straightConnector1">
            <a:avLst/>
          </a:prstGeom>
          <a:noFill/>
          <a:ln cap="flat" cmpd="sng" w="9525">
            <a:solidFill>
              <a:srgbClr val="FF0000"/>
            </a:solidFill>
            <a:prstDash val="solid"/>
            <a:round/>
            <a:headEnd len="sm" w="sm" type="none"/>
            <a:tailEnd len="lg" w="lg"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ph type="title"/>
          </p:nvPr>
        </p:nvSpPr>
        <p:spPr>
          <a:xfrm>
            <a:off x="838200" y="2156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How to Run Malicious Code</a:t>
            </a:r>
            <a:endParaRPr/>
          </a:p>
        </p:txBody>
      </p:sp>
      <p:sp>
        <p:nvSpPr>
          <p:cNvPr id="184" name="Google Shape;184;p10"/>
          <p:cNvSpPr txBox="1"/>
          <p:nvPr>
            <p:ph idx="1" type="body"/>
          </p:nvPr>
        </p:nvSpPr>
        <p:spPr>
          <a:xfrm>
            <a:off x="838200" y="1825625"/>
            <a:ext cx="10515600" cy="4351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SzPts val="2800"/>
              <a:buNone/>
            </a:pPr>
            <a:r>
              <a:t/>
            </a:r>
            <a:endParaRPr b="0" i="0" sz="2800" u="none" cap="none" strike="noStrike">
              <a:solidFill>
                <a:schemeClr val="dk1"/>
              </a:solidFill>
              <a:latin typeface="Calibri"/>
              <a:ea typeface="Calibri"/>
              <a:cs typeface="Calibri"/>
              <a:sym typeface="Calibri"/>
            </a:endParaRPr>
          </a:p>
        </p:txBody>
      </p:sp>
      <p:pic>
        <p:nvPicPr>
          <p:cNvPr id="185" name="Google Shape;185;p10"/>
          <p:cNvPicPr preferRelativeResize="0"/>
          <p:nvPr/>
        </p:nvPicPr>
        <p:blipFill rotWithShape="1">
          <a:blip r:embed="rId3">
            <a:alphaModFix/>
          </a:blip>
          <a:srcRect b="0" l="0" r="0" t="0"/>
          <a:stretch/>
        </p:blipFill>
        <p:spPr>
          <a:xfrm>
            <a:off x="635350" y="1324100"/>
            <a:ext cx="10718450" cy="5354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Environment Setup</a:t>
            </a:r>
            <a:endParaRPr/>
          </a:p>
        </p:txBody>
      </p:sp>
      <p:pic>
        <p:nvPicPr>
          <p:cNvPr id="191" name="Google Shape;191;p11"/>
          <p:cNvPicPr preferRelativeResize="0"/>
          <p:nvPr/>
        </p:nvPicPr>
        <p:blipFill rotWithShape="1">
          <a:blip r:embed="rId3">
            <a:alphaModFix/>
          </a:blip>
          <a:srcRect b="0" l="0" r="0" t="0"/>
          <a:stretch/>
        </p:blipFill>
        <p:spPr>
          <a:xfrm>
            <a:off x="586200" y="1619564"/>
            <a:ext cx="10515599" cy="4351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US"/>
              <a:t>Creation of The Malicious Input (badfile)</a:t>
            </a:r>
            <a:endParaRPr/>
          </a:p>
        </p:txBody>
      </p:sp>
      <p:sp>
        <p:nvSpPr>
          <p:cNvPr id="197" name="Google Shape;197;p12"/>
          <p:cNvSpPr txBox="1"/>
          <p:nvPr>
            <p:ph idx="1" type="body"/>
          </p:nvPr>
        </p:nvSpPr>
        <p:spPr>
          <a:xfrm>
            <a:off x="261625" y="1370350"/>
            <a:ext cx="11412300" cy="5226600"/>
          </a:xfrm>
          <a:prstGeom prst="rect">
            <a:avLst/>
          </a:prstGeom>
          <a:noFill/>
          <a:ln>
            <a:noFill/>
          </a:ln>
        </p:spPr>
        <p:txBody>
          <a:bodyPr anchorCtr="0" anchor="t" bIns="91425" lIns="91425" spcFirstLastPara="1" rIns="91425" wrap="square" tIns="91425">
            <a:noAutofit/>
          </a:bodyPr>
          <a:lstStyle/>
          <a:p>
            <a:pPr indent="-50800" lvl="0" marL="228600" rtl="0" algn="l">
              <a:lnSpc>
                <a:spcPct val="90000"/>
              </a:lnSpc>
              <a:spcBef>
                <a:spcPts val="0"/>
              </a:spcBef>
              <a:spcAft>
                <a:spcPts val="0"/>
              </a:spcAft>
              <a:buSzPts val="2800"/>
              <a:buNone/>
            </a:pPr>
            <a:r>
              <a:rPr b="1" lang="en-US" sz="2400"/>
              <a:t>Task A :</a:t>
            </a:r>
            <a:r>
              <a:rPr lang="en-US" sz="2400"/>
              <a:t> Find the offset distance between the base of the buffer and return address.</a:t>
            </a:r>
            <a:endParaRPr sz="2400"/>
          </a:p>
          <a:p>
            <a:pPr indent="-50800" lvl="0" marL="228600" rtl="0" algn="l">
              <a:lnSpc>
                <a:spcPct val="90000"/>
              </a:lnSpc>
              <a:spcBef>
                <a:spcPts val="0"/>
              </a:spcBef>
              <a:spcAft>
                <a:spcPts val="0"/>
              </a:spcAft>
              <a:buSzPts val="2800"/>
              <a:buNone/>
            </a:pPr>
            <a:r>
              <a:rPr b="1" lang="en-US" sz="2400"/>
              <a:t>Task B : </a:t>
            </a:r>
            <a:r>
              <a:rPr lang="en-US" sz="2400"/>
              <a:t>Find the address to place the shellcode</a:t>
            </a:r>
            <a:endParaRPr sz="2400"/>
          </a:p>
          <a:p>
            <a:pPr indent="-50800" lvl="0" marL="228600" rtl="0" algn="l">
              <a:lnSpc>
                <a:spcPct val="90000"/>
              </a:lnSpc>
              <a:spcBef>
                <a:spcPts val="0"/>
              </a:spcBef>
              <a:spcAft>
                <a:spcPts val="0"/>
              </a:spcAft>
              <a:buSzPts val="2800"/>
              <a:buNone/>
            </a:pPr>
            <a:r>
              <a:t/>
            </a:r>
            <a:endParaRPr sz="2400"/>
          </a:p>
          <a:p>
            <a:pPr indent="0" lvl="0" marL="0" rtl="0" algn="l">
              <a:lnSpc>
                <a:spcPct val="90000"/>
              </a:lnSpc>
              <a:spcBef>
                <a:spcPts val="0"/>
              </a:spcBef>
              <a:spcAft>
                <a:spcPts val="0"/>
              </a:spcAft>
              <a:buSzPts val="2800"/>
              <a:buNone/>
            </a:pPr>
            <a:r>
              <a:t/>
            </a:r>
            <a:endParaRPr sz="2400"/>
          </a:p>
          <a:p>
            <a:pPr indent="0" lvl="0" marL="0" rtl="0" algn="l">
              <a:lnSpc>
                <a:spcPct val="90000"/>
              </a:lnSpc>
              <a:spcBef>
                <a:spcPts val="0"/>
              </a:spcBef>
              <a:spcAft>
                <a:spcPts val="0"/>
              </a:spcAft>
              <a:buSzPts val="2800"/>
              <a:buNone/>
            </a:pPr>
            <a:r>
              <a:t/>
            </a:r>
            <a:endParaRPr sz="2400"/>
          </a:p>
          <a:p>
            <a:pPr indent="0" lvl="0" marL="0" rtl="0" algn="l">
              <a:lnSpc>
                <a:spcPct val="90000"/>
              </a:lnSpc>
              <a:spcBef>
                <a:spcPts val="0"/>
              </a:spcBef>
              <a:spcAft>
                <a:spcPts val="0"/>
              </a:spcAft>
              <a:buSzPts val="2800"/>
              <a:buNone/>
            </a:pPr>
            <a:r>
              <a:t/>
            </a:r>
            <a:endParaRPr sz="2400"/>
          </a:p>
          <a:p>
            <a:pPr indent="0" lvl="0" marL="0" rtl="0" algn="l">
              <a:lnSpc>
                <a:spcPct val="90000"/>
              </a:lnSpc>
              <a:spcBef>
                <a:spcPts val="0"/>
              </a:spcBef>
              <a:spcAft>
                <a:spcPts val="0"/>
              </a:spcAft>
              <a:buSzPts val="2800"/>
              <a:buNone/>
            </a:pPr>
            <a:r>
              <a:t/>
            </a:r>
            <a:endParaRPr sz="2400"/>
          </a:p>
        </p:txBody>
      </p:sp>
      <p:pic>
        <p:nvPicPr>
          <p:cNvPr id="198" name="Google Shape;198;p12"/>
          <p:cNvPicPr preferRelativeResize="0"/>
          <p:nvPr/>
        </p:nvPicPr>
        <p:blipFill rotWithShape="1">
          <a:blip r:embed="rId3">
            <a:alphaModFix/>
          </a:blip>
          <a:srcRect b="0" l="0" r="0" t="0"/>
          <a:stretch/>
        </p:blipFill>
        <p:spPr>
          <a:xfrm>
            <a:off x="529450" y="3350000"/>
            <a:ext cx="6092225" cy="1967275"/>
          </a:xfrm>
          <a:prstGeom prst="rect">
            <a:avLst/>
          </a:prstGeom>
          <a:noFill/>
          <a:ln>
            <a:noFill/>
          </a:ln>
        </p:spPr>
      </p:pic>
      <p:pic>
        <p:nvPicPr>
          <p:cNvPr id="199" name="Google Shape;199;p12"/>
          <p:cNvPicPr preferRelativeResize="0"/>
          <p:nvPr/>
        </p:nvPicPr>
        <p:blipFill rotWithShape="1">
          <a:blip r:embed="rId4">
            <a:alphaModFix/>
          </a:blip>
          <a:srcRect b="0" l="0" r="0" t="0"/>
          <a:stretch/>
        </p:blipFill>
        <p:spPr>
          <a:xfrm>
            <a:off x="6845925" y="2070325"/>
            <a:ext cx="4420600" cy="4526625"/>
          </a:xfrm>
          <a:prstGeom prst="rect">
            <a:avLst/>
          </a:prstGeom>
          <a:noFill/>
          <a:ln>
            <a:noFill/>
          </a:ln>
        </p:spPr>
      </p:pic>
      <p:pic>
        <p:nvPicPr>
          <p:cNvPr id="200" name="Google Shape;200;p12"/>
          <p:cNvPicPr preferRelativeResize="0"/>
          <p:nvPr/>
        </p:nvPicPr>
        <p:blipFill rotWithShape="1">
          <a:blip r:embed="rId5">
            <a:alphaModFix/>
          </a:blip>
          <a:srcRect b="0" l="0" r="0" t="0"/>
          <a:stretch/>
        </p:blipFill>
        <p:spPr>
          <a:xfrm>
            <a:off x="10584800" y="3452999"/>
            <a:ext cx="1548475" cy="1061325"/>
          </a:xfrm>
          <a:prstGeom prst="rect">
            <a:avLst/>
          </a:prstGeom>
          <a:noFill/>
          <a:ln>
            <a:noFill/>
          </a:ln>
        </p:spPr>
      </p:pic>
      <p:cxnSp>
        <p:nvCxnSpPr>
          <p:cNvPr id="201" name="Google Shape;201;p12"/>
          <p:cNvCxnSpPr/>
          <p:nvPr/>
        </p:nvCxnSpPr>
        <p:spPr>
          <a:xfrm rot="10800000">
            <a:off x="10210400" y="3983663"/>
            <a:ext cx="374400" cy="0"/>
          </a:xfrm>
          <a:prstGeom prst="straightConnector1">
            <a:avLst/>
          </a:prstGeom>
          <a:noFill/>
          <a:ln cap="flat" cmpd="sng" w="19050">
            <a:solidFill>
              <a:schemeClr val="dk2"/>
            </a:solidFill>
            <a:prstDash val="solid"/>
            <a:round/>
            <a:headEnd len="sm" w="sm" type="none"/>
            <a:tailEnd len="lg" w="lg"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120650" lvl="0" marL="228600" rtl="0" algn="l">
              <a:lnSpc>
                <a:spcPct val="90000"/>
              </a:lnSpc>
              <a:spcBef>
                <a:spcPts val="0"/>
              </a:spcBef>
              <a:spcAft>
                <a:spcPts val="0"/>
              </a:spcAft>
              <a:buClr>
                <a:schemeClr val="dk1"/>
              </a:buClr>
              <a:buSzPts val="1100"/>
              <a:buFont typeface="Arial"/>
              <a:buNone/>
            </a:pPr>
            <a:r>
              <a:rPr lang="en-US">
                <a:latin typeface="Arial"/>
                <a:ea typeface="Arial"/>
                <a:cs typeface="Arial"/>
                <a:sym typeface="Arial"/>
              </a:rPr>
              <a:t>Task A : Distance Between Buffer Base Address and Return Address</a:t>
            </a:r>
            <a:endParaRPr>
              <a:latin typeface="Arial"/>
              <a:ea typeface="Arial"/>
              <a:cs typeface="Arial"/>
              <a:sym typeface="Arial"/>
            </a:endParaRPr>
          </a:p>
        </p:txBody>
      </p:sp>
      <p:pic>
        <p:nvPicPr>
          <p:cNvPr descr="Screen Clipping" id="207" name="Google Shape;207;p13"/>
          <p:cNvPicPr preferRelativeResize="0"/>
          <p:nvPr/>
        </p:nvPicPr>
        <p:blipFill rotWithShape="1">
          <a:blip r:embed="rId3">
            <a:alphaModFix/>
          </a:blip>
          <a:srcRect b="0" l="0" r="0" t="0"/>
          <a:stretch/>
        </p:blipFill>
        <p:spPr>
          <a:xfrm>
            <a:off x="1008401" y="1842866"/>
            <a:ext cx="7914073" cy="2788769"/>
          </a:xfrm>
          <a:prstGeom prst="rect">
            <a:avLst/>
          </a:prstGeom>
          <a:noFill/>
          <a:ln>
            <a:noFill/>
          </a:ln>
        </p:spPr>
      </p:pic>
      <p:pic>
        <p:nvPicPr>
          <p:cNvPr descr="Screen Clipping" id="208" name="Google Shape;208;p13"/>
          <p:cNvPicPr preferRelativeResize="0"/>
          <p:nvPr/>
        </p:nvPicPr>
        <p:blipFill rotWithShape="1">
          <a:blip r:embed="rId4">
            <a:alphaModFix/>
          </a:blip>
          <a:srcRect b="0" l="0" r="0" t="0"/>
          <a:stretch/>
        </p:blipFill>
        <p:spPr>
          <a:xfrm>
            <a:off x="1008401" y="4783675"/>
            <a:ext cx="4060556" cy="1722905"/>
          </a:xfrm>
          <a:prstGeom prst="rect">
            <a:avLst/>
          </a:prstGeom>
          <a:noFill/>
          <a:ln>
            <a:noFill/>
          </a:ln>
        </p:spPr>
      </p:pic>
      <p:sp>
        <p:nvSpPr>
          <p:cNvPr id="209" name="Google Shape;209;p13"/>
          <p:cNvSpPr txBox="1"/>
          <p:nvPr/>
        </p:nvSpPr>
        <p:spPr>
          <a:xfrm>
            <a:off x="5559287" y="5854148"/>
            <a:ext cx="472437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Therefore, the distance is 108 + 4 = </a:t>
            </a:r>
            <a:r>
              <a:rPr b="1" i="0" lang="en-US" sz="2000" u="none" cap="none" strike="noStrike">
                <a:solidFill>
                  <a:srgbClr val="FF0000"/>
                </a:solidFill>
                <a:latin typeface="Arial"/>
                <a:ea typeface="Arial"/>
                <a:cs typeface="Arial"/>
                <a:sym typeface="Arial"/>
              </a:rPr>
              <a:t>112</a:t>
            </a:r>
            <a:endParaRPr b="1" i="0" sz="2000" u="none" cap="none" strike="noStrike">
              <a:solidFill>
                <a:srgbClr val="FF0000"/>
              </a:solidFill>
              <a:latin typeface="Arial"/>
              <a:ea typeface="Arial"/>
              <a:cs typeface="Arial"/>
              <a:sym typeface="Arial"/>
            </a:endParaRPr>
          </a:p>
        </p:txBody>
      </p:sp>
      <p:cxnSp>
        <p:nvCxnSpPr>
          <p:cNvPr id="210" name="Google Shape;210;p13"/>
          <p:cNvCxnSpPr>
            <a:stCxn id="209" idx="1"/>
          </p:cNvCxnSpPr>
          <p:nvPr/>
        </p:nvCxnSpPr>
        <p:spPr>
          <a:xfrm flipH="1">
            <a:off x="2295887" y="6054203"/>
            <a:ext cx="3263400" cy="78300"/>
          </a:xfrm>
          <a:prstGeom prst="straightConnector1">
            <a:avLst/>
          </a:prstGeom>
          <a:noFill/>
          <a:ln cap="flat" cmpd="sng" w="9525">
            <a:solidFill>
              <a:srgbClr val="5497D3"/>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Task B : Address of Malicious Code</a:t>
            </a:r>
            <a:endParaRPr>
              <a:latin typeface="Arial"/>
              <a:ea typeface="Arial"/>
              <a:cs typeface="Arial"/>
              <a:sym typeface="Arial"/>
            </a:endParaRPr>
          </a:p>
        </p:txBody>
      </p:sp>
      <p:sp>
        <p:nvSpPr>
          <p:cNvPr id="216" name="Google Shape;216;p14"/>
          <p:cNvSpPr txBox="1"/>
          <p:nvPr>
            <p:ph idx="1" type="body"/>
          </p:nvPr>
        </p:nvSpPr>
        <p:spPr>
          <a:xfrm>
            <a:off x="838200" y="1825625"/>
            <a:ext cx="4191900" cy="4669200"/>
          </a:xfrm>
          <a:prstGeom prst="rect">
            <a:avLst/>
          </a:prstGeom>
          <a:noFill/>
          <a:ln>
            <a:noFill/>
          </a:ln>
        </p:spPr>
        <p:txBody>
          <a:bodyPr anchorCtr="0" anchor="t" bIns="91425" lIns="91425" spcFirstLastPara="1" rIns="91425" wrap="square" tIns="91425">
            <a:noAutofit/>
          </a:bodyPr>
          <a:lstStyle/>
          <a:p>
            <a:pPr indent="-381000" lvl="0" marL="457200" rtl="0" algn="l">
              <a:lnSpc>
                <a:spcPct val="90000"/>
              </a:lnSpc>
              <a:spcBef>
                <a:spcPts val="0"/>
              </a:spcBef>
              <a:spcAft>
                <a:spcPts val="0"/>
              </a:spcAft>
              <a:buSzPts val="2400"/>
              <a:buChar char="•"/>
            </a:pPr>
            <a:r>
              <a:rPr lang="en-US" sz="2400">
                <a:latin typeface="Arial"/>
                <a:ea typeface="Arial"/>
                <a:cs typeface="Arial"/>
                <a:sym typeface="Arial"/>
              </a:rPr>
              <a:t>Investigation using gdb</a:t>
            </a:r>
            <a:endParaRPr sz="2400">
              <a:latin typeface="Arial"/>
              <a:ea typeface="Arial"/>
              <a:cs typeface="Arial"/>
              <a:sym typeface="Arial"/>
            </a:endParaRPr>
          </a:p>
          <a:p>
            <a:pPr indent="0" lvl="0" marL="0" rtl="0" algn="l">
              <a:lnSpc>
                <a:spcPct val="90000"/>
              </a:lnSpc>
              <a:spcBef>
                <a:spcPts val="0"/>
              </a:spcBef>
              <a:spcAft>
                <a:spcPts val="0"/>
              </a:spcAft>
              <a:buSzPts val="2800"/>
              <a:buNone/>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Char char="•"/>
            </a:pPr>
            <a:r>
              <a:rPr lang="en-US" sz="2400">
                <a:latin typeface="Arial"/>
                <a:ea typeface="Arial"/>
                <a:cs typeface="Arial"/>
                <a:sym typeface="Arial"/>
              </a:rPr>
              <a:t>Malicious code is written in the badfile which is passed as an argument to the vulnerable function.</a:t>
            </a:r>
            <a:endParaRPr sz="2400">
              <a:latin typeface="Arial"/>
              <a:ea typeface="Arial"/>
              <a:cs typeface="Arial"/>
              <a:sym typeface="Arial"/>
            </a:endParaRPr>
          </a:p>
          <a:p>
            <a:pPr indent="0" lvl="0" marL="0" rtl="0" algn="l">
              <a:lnSpc>
                <a:spcPct val="90000"/>
              </a:lnSpc>
              <a:spcBef>
                <a:spcPts val="0"/>
              </a:spcBef>
              <a:spcAft>
                <a:spcPts val="0"/>
              </a:spcAft>
              <a:buSzPts val="2800"/>
              <a:buNone/>
            </a:pPr>
            <a:r>
              <a:t/>
            </a:r>
            <a:endParaRPr sz="2400">
              <a:latin typeface="Arial"/>
              <a:ea typeface="Arial"/>
              <a:cs typeface="Arial"/>
              <a:sym typeface="Arial"/>
            </a:endParaRPr>
          </a:p>
          <a:p>
            <a:pPr indent="-381000" lvl="0" marL="457200" rtl="0" algn="l">
              <a:lnSpc>
                <a:spcPct val="90000"/>
              </a:lnSpc>
              <a:spcBef>
                <a:spcPts val="0"/>
              </a:spcBef>
              <a:spcAft>
                <a:spcPts val="0"/>
              </a:spcAft>
              <a:buSzPts val="2400"/>
              <a:buChar char="•"/>
            </a:pPr>
            <a:r>
              <a:rPr lang="en-US" sz="2400">
                <a:latin typeface="Arial"/>
                <a:ea typeface="Arial"/>
                <a:cs typeface="Arial"/>
                <a:sym typeface="Arial"/>
              </a:rPr>
              <a:t>Using gdb, we can find the address of the function argument.</a:t>
            </a:r>
            <a:endParaRPr sz="2400">
              <a:latin typeface="Arial"/>
              <a:ea typeface="Arial"/>
              <a:cs typeface="Arial"/>
              <a:sym typeface="Arial"/>
            </a:endParaRPr>
          </a:p>
        </p:txBody>
      </p:sp>
      <p:pic>
        <p:nvPicPr>
          <p:cNvPr id="217" name="Google Shape;217;p14"/>
          <p:cNvPicPr preferRelativeResize="0"/>
          <p:nvPr/>
        </p:nvPicPr>
        <p:blipFill rotWithShape="1">
          <a:blip r:embed="rId3">
            <a:alphaModFix/>
          </a:blip>
          <a:srcRect b="0" l="0" r="0" t="0"/>
          <a:stretch/>
        </p:blipFill>
        <p:spPr>
          <a:xfrm>
            <a:off x="5187400" y="1900788"/>
            <a:ext cx="6410325" cy="2533650"/>
          </a:xfrm>
          <a:prstGeom prst="rect">
            <a:avLst/>
          </a:prstGeom>
          <a:noFill/>
          <a:ln>
            <a:noFill/>
          </a:ln>
        </p:spPr>
      </p:pic>
      <p:pic>
        <p:nvPicPr>
          <p:cNvPr id="218" name="Google Shape;218;p14"/>
          <p:cNvPicPr preferRelativeResize="0"/>
          <p:nvPr/>
        </p:nvPicPr>
        <p:blipFill rotWithShape="1">
          <a:blip r:embed="rId4">
            <a:alphaModFix/>
          </a:blip>
          <a:srcRect b="0" l="0" r="0" t="0"/>
          <a:stretch/>
        </p:blipFill>
        <p:spPr>
          <a:xfrm>
            <a:off x="5187400" y="4644425"/>
            <a:ext cx="6410326" cy="1850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5"/>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US">
                <a:latin typeface="Arial"/>
                <a:ea typeface="Arial"/>
                <a:cs typeface="Arial"/>
                <a:sym typeface="Arial"/>
              </a:rPr>
              <a:t>Task B : Address of Malicious Code</a:t>
            </a:r>
            <a:endParaRPr>
              <a:latin typeface="Arial"/>
              <a:ea typeface="Arial"/>
              <a:cs typeface="Arial"/>
              <a:sym typeface="Arial"/>
            </a:endParaRPr>
          </a:p>
        </p:txBody>
      </p:sp>
      <p:pic>
        <p:nvPicPr>
          <p:cNvPr id="224" name="Google Shape;224;p15"/>
          <p:cNvPicPr preferRelativeResize="0"/>
          <p:nvPr/>
        </p:nvPicPr>
        <p:blipFill rotWithShape="1">
          <a:blip r:embed="rId3">
            <a:alphaModFix/>
          </a:blip>
          <a:srcRect b="0" l="0" r="0" t="0"/>
          <a:stretch/>
        </p:blipFill>
        <p:spPr>
          <a:xfrm>
            <a:off x="5862825" y="2786525"/>
            <a:ext cx="6329175" cy="3698275"/>
          </a:xfrm>
          <a:prstGeom prst="rect">
            <a:avLst/>
          </a:prstGeom>
          <a:noFill/>
          <a:ln>
            <a:noFill/>
          </a:ln>
        </p:spPr>
      </p:pic>
      <p:sp>
        <p:nvSpPr>
          <p:cNvPr id="225" name="Google Shape;225;p15"/>
          <p:cNvSpPr txBox="1"/>
          <p:nvPr>
            <p:ph idx="1" type="body"/>
          </p:nvPr>
        </p:nvSpPr>
        <p:spPr>
          <a:xfrm>
            <a:off x="838200" y="1864200"/>
            <a:ext cx="5441700" cy="4776600"/>
          </a:xfrm>
          <a:prstGeom prst="rect">
            <a:avLst/>
          </a:prstGeom>
          <a:noFill/>
          <a:ln>
            <a:noFill/>
          </a:ln>
        </p:spPr>
        <p:txBody>
          <a:bodyPr anchorCtr="0" anchor="t" bIns="91425" lIns="91425" spcFirstLastPara="1" rIns="91425" wrap="square" tIns="91425">
            <a:noAutofit/>
          </a:bodyPr>
          <a:lstStyle/>
          <a:p>
            <a:pPr indent="0" lvl="0" marL="50800" rtl="0" algn="l">
              <a:lnSpc>
                <a:spcPct val="90000"/>
              </a:lnSpc>
              <a:spcBef>
                <a:spcPts val="0"/>
              </a:spcBef>
              <a:spcAft>
                <a:spcPts val="0"/>
              </a:spcAft>
              <a:buSzPts val="2800"/>
              <a:buNone/>
            </a:pPr>
            <a:r>
              <a:t/>
            </a:r>
            <a:endParaRPr sz="2400">
              <a:latin typeface="Arial"/>
              <a:ea typeface="Arial"/>
              <a:cs typeface="Arial"/>
              <a:sym typeface="Arial"/>
            </a:endParaRPr>
          </a:p>
          <a:p>
            <a:pPr indent="-406400" lvl="0" marL="457200" rtl="0" algn="l">
              <a:lnSpc>
                <a:spcPct val="90000"/>
              </a:lnSpc>
              <a:spcBef>
                <a:spcPts val="0"/>
              </a:spcBef>
              <a:spcAft>
                <a:spcPts val="0"/>
              </a:spcAft>
              <a:buSzPts val="2800"/>
              <a:buChar char="•"/>
            </a:pPr>
            <a:r>
              <a:rPr lang="en-US" sz="2400">
                <a:latin typeface="Arial"/>
                <a:ea typeface="Arial"/>
                <a:cs typeface="Arial"/>
                <a:sym typeface="Arial"/>
              </a:rPr>
              <a:t>To increase the chances of jumping to the correct address, of the malicious code, we can fill the badfile with NOP instructions and place the malicious code at the end of the buffer. </a:t>
            </a:r>
            <a:endParaRPr sz="2400">
              <a:latin typeface="Arial"/>
              <a:ea typeface="Arial"/>
              <a:cs typeface="Arial"/>
              <a:sym typeface="Arial"/>
            </a:endParaRPr>
          </a:p>
          <a:p>
            <a:pPr indent="0" lvl="0" marL="0" rtl="0" algn="l">
              <a:lnSpc>
                <a:spcPct val="90000"/>
              </a:lnSpc>
              <a:spcBef>
                <a:spcPts val="0"/>
              </a:spcBef>
              <a:spcAft>
                <a:spcPts val="0"/>
              </a:spcAft>
              <a:buSzPts val="2800"/>
              <a:buNone/>
            </a:pPr>
            <a:r>
              <a:t/>
            </a:r>
            <a:endParaRPr i="1" sz="2400">
              <a:latin typeface="Arial"/>
              <a:ea typeface="Arial"/>
              <a:cs typeface="Arial"/>
              <a:sym typeface="Arial"/>
            </a:endParaRPr>
          </a:p>
          <a:p>
            <a:pPr indent="0" lvl="0" marL="0" rtl="0" algn="l">
              <a:lnSpc>
                <a:spcPct val="90000"/>
              </a:lnSpc>
              <a:spcBef>
                <a:spcPts val="0"/>
              </a:spcBef>
              <a:spcAft>
                <a:spcPts val="0"/>
              </a:spcAft>
              <a:buSzPts val="2800"/>
              <a:buNone/>
            </a:pPr>
            <a:r>
              <a:rPr i="1" lang="en-US" sz="2400">
                <a:latin typeface="Arial"/>
                <a:ea typeface="Arial"/>
                <a:cs typeface="Arial"/>
                <a:sym typeface="Arial"/>
              </a:rPr>
              <a:t>Note : NOP- Instruction that does nothing.</a:t>
            </a:r>
            <a:endParaRPr i="1" sz="24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4400"/>
              <a:buFont typeface="Calibri"/>
              <a:buNone/>
            </a:pPr>
            <a:r>
              <a:rPr lang="en-US"/>
              <a:t>The Structure of badfile</a:t>
            </a:r>
            <a:endParaRPr/>
          </a:p>
        </p:txBody>
      </p:sp>
      <p:pic>
        <p:nvPicPr>
          <p:cNvPr descr="Screen Clipping" id="231" name="Google Shape;231;p16"/>
          <p:cNvPicPr preferRelativeResize="0"/>
          <p:nvPr/>
        </p:nvPicPr>
        <p:blipFill rotWithShape="1">
          <a:blip r:embed="rId3">
            <a:alphaModFix/>
          </a:blip>
          <a:srcRect b="0" l="0" r="0" t="0"/>
          <a:stretch/>
        </p:blipFill>
        <p:spPr>
          <a:xfrm>
            <a:off x="1938130" y="1673914"/>
            <a:ext cx="8064399" cy="473636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Screen Clipping" id="236" name="Google Shape;236;p17"/>
          <p:cNvPicPr preferRelativeResize="0"/>
          <p:nvPr/>
        </p:nvPicPr>
        <p:blipFill rotWithShape="1">
          <a:blip r:embed="rId3">
            <a:alphaModFix/>
          </a:blip>
          <a:srcRect b="0" l="0" r="0" t="0"/>
          <a:stretch/>
        </p:blipFill>
        <p:spPr>
          <a:xfrm>
            <a:off x="1505168" y="1843984"/>
            <a:ext cx="8773852" cy="4129433"/>
          </a:xfrm>
          <a:prstGeom prst="rect">
            <a:avLst/>
          </a:prstGeom>
          <a:noFill/>
          <a:ln>
            <a:noFill/>
          </a:ln>
        </p:spPr>
      </p:pic>
      <p:sp>
        <p:nvSpPr>
          <p:cNvPr id="237" name="Google Shape;237;p17"/>
          <p:cNvSpPr txBox="1"/>
          <p:nvPr>
            <p:ph type="title"/>
          </p:nvPr>
        </p:nvSpPr>
        <p:spPr>
          <a:xfrm>
            <a:off x="775700" y="11517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Badfile Construction</a:t>
            </a:r>
            <a:endParaRPr/>
          </a:p>
        </p:txBody>
      </p:sp>
      <p:cxnSp>
        <p:nvCxnSpPr>
          <p:cNvPr id="238" name="Google Shape;238;p17"/>
          <p:cNvCxnSpPr/>
          <p:nvPr/>
        </p:nvCxnSpPr>
        <p:spPr>
          <a:xfrm>
            <a:off x="3369375" y="4326000"/>
            <a:ext cx="0" cy="0"/>
          </a:xfrm>
          <a:prstGeom prst="straightConnector1">
            <a:avLst/>
          </a:prstGeom>
          <a:noFill/>
          <a:ln cap="flat" cmpd="sng" w="9525">
            <a:solidFill>
              <a:schemeClr val="dk2"/>
            </a:solidFill>
            <a:prstDash val="solid"/>
            <a:round/>
            <a:headEnd len="sm" w="sm" type="none"/>
            <a:tailEnd len="sm" w="sm" type="none"/>
          </a:ln>
        </p:spPr>
      </p:cxnSp>
      <p:cxnSp>
        <p:nvCxnSpPr>
          <p:cNvPr id="239" name="Google Shape;239;p17"/>
          <p:cNvCxnSpPr/>
          <p:nvPr/>
        </p:nvCxnSpPr>
        <p:spPr>
          <a:xfrm>
            <a:off x="3369375" y="4326000"/>
            <a:ext cx="0" cy="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SzPct val="70707"/>
              <a:buNone/>
            </a:pPr>
            <a:r>
              <a:rPr lang="en-US"/>
              <a:t>Attack With Unknown Buffer Size</a:t>
            </a:r>
            <a:endParaRPr/>
          </a:p>
          <a:p>
            <a:pPr indent="0" lvl="0" marL="0" rtl="0" algn="l">
              <a:lnSpc>
                <a:spcPct val="90000"/>
              </a:lnSpc>
              <a:spcBef>
                <a:spcPts val="0"/>
              </a:spcBef>
              <a:spcAft>
                <a:spcPts val="0"/>
              </a:spcAft>
              <a:buSzPct val="70707"/>
              <a:buNone/>
            </a:pPr>
            <a:r>
              <a:t/>
            </a:r>
            <a:endParaRPr/>
          </a:p>
        </p:txBody>
      </p:sp>
      <p:pic>
        <p:nvPicPr>
          <p:cNvPr id="245" name="Google Shape;245;p18"/>
          <p:cNvPicPr preferRelativeResize="0"/>
          <p:nvPr/>
        </p:nvPicPr>
        <p:blipFill rotWithShape="1">
          <a:blip r:embed="rId3">
            <a:alphaModFix/>
          </a:blip>
          <a:srcRect b="0" l="0" r="0" t="0"/>
          <a:stretch/>
        </p:blipFill>
        <p:spPr>
          <a:xfrm>
            <a:off x="2641600" y="1560167"/>
            <a:ext cx="7307241" cy="50946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SzPct val="70707"/>
              <a:buNone/>
            </a:pPr>
            <a:r>
              <a:rPr lang="en-US"/>
              <a:t>Attack With Unknown Buffer Address and Size</a:t>
            </a:r>
            <a:endParaRPr/>
          </a:p>
          <a:p>
            <a:pPr indent="0" lvl="0" marL="0" rtl="0" algn="l">
              <a:lnSpc>
                <a:spcPct val="90000"/>
              </a:lnSpc>
              <a:spcBef>
                <a:spcPts val="0"/>
              </a:spcBef>
              <a:spcAft>
                <a:spcPts val="0"/>
              </a:spcAft>
              <a:buSzPct val="70707"/>
              <a:buNone/>
            </a:pPr>
            <a:r>
              <a:t/>
            </a:r>
            <a:endParaRPr/>
          </a:p>
        </p:txBody>
      </p:sp>
      <p:pic>
        <p:nvPicPr>
          <p:cNvPr id="251" name="Google Shape;251;p19"/>
          <p:cNvPicPr preferRelativeResize="0"/>
          <p:nvPr/>
        </p:nvPicPr>
        <p:blipFill rotWithShape="1">
          <a:blip r:embed="rId3">
            <a:alphaModFix/>
          </a:blip>
          <a:srcRect b="0" l="0" r="0" t="0"/>
          <a:stretch/>
        </p:blipFill>
        <p:spPr>
          <a:xfrm>
            <a:off x="304800" y="1560167"/>
            <a:ext cx="8040000" cy="2998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90000"/>
              </a:lnSpc>
              <a:spcBef>
                <a:spcPts val="0"/>
              </a:spcBef>
              <a:spcAft>
                <a:spcPts val="0"/>
              </a:spcAft>
              <a:buSzPct val="70707"/>
              <a:buNone/>
            </a:pPr>
            <a:r>
              <a:rPr lang="en-US"/>
              <a:t>Attack With Unknown Buffer Address and Size</a:t>
            </a:r>
            <a:endParaRPr/>
          </a:p>
          <a:p>
            <a:pPr indent="0" lvl="0" marL="0" rtl="0" algn="l">
              <a:lnSpc>
                <a:spcPct val="90000"/>
              </a:lnSpc>
              <a:spcBef>
                <a:spcPts val="0"/>
              </a:spcBef>
              <a:spcAft>
                <a:spcPts val="0"/>
              </a:spcAft>
              <a:buSzPct val="70707"/>
              <a:buNone/>
            </a:pPr>
            <a:r>
              <a:t/>
            </a:r>
            <a:endParaRPr/>
          </a:p>
        </p:txBody>
      </p:sp>
      <p:pic>
        <p:nvPicPr>
          <p:cNvPr id="257" name="Google Shape;257;p20"/>
          <p:cNvPicPr preferRelativeResize="0"/>
          <p:nvPr/>
        </p:nvPicPr>
        <p:blipFill rotWithShape="1">
          <a:blip r:embed="rId3">
            <a:alphaModFix/>
          </a:blip>
          <a:srcRect b="0" l="0" r="0" t="0"/>
          <a:stretch/>
        </p:blipFill>
        <p:spPr>
          <a:xfrm>
            <a:off x="2281673" y="1356967"/>
            <a:ext cx="7622496" cy="550103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1"/>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New Address in Return Address</a:t>
            </a:r>
            <a:endParaRPr/>
          </a:p>
        </p:txBody>
      </p:sp>
      <p:sp>
        <p:nvSpPr>
          <p:cNvPr id="263" name="Google Shape;263;p21"/>
          <p:cNvSpPr txBox="1"/>
          <p:nvPr>
            <p:ph idx="1" type="body"/>
          </p:nvPr>
        </p:nvSpPr>
        <p:spPr>
          <a:xfrm>
            <a:off x="838200" y="1825625"/>
            <a:ext cx="10515600" cy="4351200"/>
          </a:xfrm>
          <a:prstGeom prst="rect">
            <a:avLst/>
          </a:prstGeom>
          <a:noFill/>
          <a:ln>
            <a:noFill/>
          </a:ln>
        </p:spPr>
        <p:txBody>
          <a:bodyPr anchorCtr="0" anchor="t" bIns="91425" lIns="91425" spcFirstLastPara="1" rIns="91425" wrap="square" tIns="91425">
            <a:noAutofit/>
          </a:bodyPr>
          <a:lstStyle/>
          <a:p>
            <a:pPr indent="-50800" lvl="0" marL="228600" rtl="0" algn="l">
              <a:lnSpc>
                <a:spcPct val="90000"/>
              </a:lnSpc>
              <a:spcBef>
                <a:spcPts val="0"/>
              </a:spcBef>
              <a:spcAft>
                <a:spcPts val="0"/>
              </a:spcAft>
              <a:buSzPts val="2800"/>
              <a:buNone/>
            </a:pPr>
            <a:r>
              <a:rPr b="1" lang="en-US">
                <a:latin typeface="Arial"/>
                <a:ea typeface="Arial"/>
                <a:cs typeface="Arial"/>
                <a:sym typeface="Arial"/>
              </a:rPr>
              <a:t>Considerations :</a:t>
            </a:r>
            <a:endParaRPr b="1">
              <a:latin typeface="Arial"/>
              <a:ea typeface="Arial"/>
              <a:cs typeface="Arial"/>
              <a:sym typeface="Arial"/>
            </a:endParaRPr>
          </a:p>
          <a:p>
            <a:pPr indent="-50800" lvl="0" marL="228600" rtl="0" algn="l">
              <a:lnSpc>
                <a:spcPct val="90000"/>
              </a:lnSpc>
              <a:spcBef>
                <a:spcPts val="0"/>
              </a:spcBef>
              <a:spcAft>
                <a:spcPts val="0"/>
              </a:spcAft>
              <a:buSzPts val="2800"/>
              <a:buNone/>
            </a:pPr>
            <a:r>
              <a:t/>
            </a:r>
            <a:endParaRPr b="1">
              <a:latin typeface="Arial"/>
              <a:ea typeface="Arial"/>
              <a:cs typeface="Arial"/>
              <a:sym typeface="Arial"/>
            </a:endParaRPr>
          </a:p>
          <a:p>
            <a:pPr indent="0" lvl="0" marL="177800" rtl="0" algn="l">
              <a:lnSpc>
                <a:spcPct val="90000"/>
              </a:lnSpc>
              <a:spcBef>
                <a:spcPts val="0"/>
              </a:spcBef>
              <a:spcAft>
                <a:spcPts val="0"/>
              </a:spcAft>
              <a:buSzPts val="2800"/>
              <a:buNone/>
            </a:pPr>
            <a:r>
              <a:rPr lang="en-US">
                <a:latin typeface="Arial"/>
                <a:ea typeface="Arial"/>
                <a:cs typeface="Arial"/>
                <a:sym typeface="Arial"/>
              </a:rPr>
              <a:t>The new address in the return address of function stack [</a:t>
            </a:r>
            <a:r>
              <a:rPr lang="en-US">
                <a:latin typeface="Courier New"/>
                <a:ea typeface="Courier New"/>
                <a:cs typeface="Courier New"/>
                <a:sym typeface="Courier New"/>
              </a:rPr>
              <a:t>0xbffff188 + nnn</a:t>
            </a:r>
            <a:r>
              <a:rPr lang="en-US">
                <a:latin typeface="Arial"/>
                <a:ea typeface="Arial"/>
                <a:cs typeface="Arial"/>
                <a:sym typeface="Arial"/>
              </a:rPr>
              <a:t>] should not contain zero in any of its byte, or the badfile will have a zero causing </a:t>
            </a:r>
            <a:r>
              <a:rPr lang="en-US">
                <a:latin typeface="Courier New"/>
                <a:ea typeface="Courier New"/>
                <a:cs typeface="Courier New"/>
                <a:sym typeface="Courier New"/>
              </a:rPr>
              <a:t>strcpy() </a:t>
            </a:r>
            <a:r>
              <a:rPr lang="en-US">
                <a:latin typeface="Arial"/>
                <a:ea typeface="Arial"/>
                <a:cs typeface="Arial"/>
                <a:sym typeface="Arial"/>
              </a:rPr>
              <a:t>to end copying.</a:t>
            </a:r>
            <a:endParaRPr>
              <a:latin typeface="Arial"/>
              <a:ea typeface="Arial"/>
              <a:cs typeface="Arial"/>
              <a:sym typeface="Arial"/>
            </a:endParaRPr>
          </a:p>
          <a:p>
            <a:pPr indent="0" lvl="0" marL="228600" rtl="0" algn="l">
              <a:lnSpc>
                <a:spcPct val="90000"/>
              </a:lnSpc>
              <a:spcBef>
                <a:spcPts val="0"/>
              </a:spcBef>
              <a:spcAft>
                <a:spcPts val="0"/>
              </a:spcAft>
              <a:buSzPts val="2800"/>
              <a:buNone/>
            </a:pPr>
            <a:r>
              <a:t/>
            </a:r>
            <a:endParaRPr>
              <a:latin typeface="Arial"/>
              <a:ea typeface="Arial"/>
              <a:cs typeface="Arial"/>
              <a:sym typeface="Arial"/>
            </a:endParaRPr>
          </a:p>
          <a:p>
            <a:pPr indent="0" lvl="0" marL="177800" rtl="0" algn="l">
              <a:lnSpc>
                <a:spcPct val="90000"/>
              </a:lnSpc>
              <a:spcBef>
                <a:spcPts val="0"/>
              </a:spcBef>
              <a:spcAft>
                <a:spcPts val="0"/>
              </a:spcAft>
              <a:buSzPts val="2800"/>
              <a:buNone/>
            </a:pPr>
            <a:r>
              <a:rPr i="1" lang="en-US">
                <a:latin typeface="Arial"/>
                <a:ea typeface="Arial"/>
                <a:cs typeface="Arial"/>
                <a:sym typeface="Arial"/>
              </a:rPr>
              <a:t>e.g., </a:t>
            </a:r>
            <a:r>
              <a:rPr i="1" lang="en-US">
                <a:latin typeface="Courier New"/>
                <a:ea typeface="Courier New"/>
                <a:cs typeface="Courier New"/>
                <a:sym typeface="Courier New"/>
              </a:rPr>
              <a:t>0xbffff188 + 0x78 = 0xbffff200</a:t>
            </a:r>
            <a:r>
              <a:rPr i="1" lang="en-US">
                <a:latin typeface="Arial"/>
                <a:ea typeface="Arial"/>
                <a:cs typeface="Arial"/>
                <a:sym typeface="Arial"/>
              </a:rPr>
              <a:t>, </a:t>
            </a:r>
            <a:r>
              <a:rPr lang="en-US">
                <a:latin typeface="Arial"/>
                <a:ea typeface="Arial"/>
                <a:cs typeface="Arial"/>
                <a:sym typeface="Arial"/>
              </a:rPr>
              <a:t>the last byte contains zero leading to end copy.</a:t>
            </a:r>
            <a:endParaRPr>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2"/>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Execution Results</a:t>
            </a:r>
            <a:endParaRPr>
              <a:latin typeface="Arial"/>
              <a:ea typeface="Arial"/>
              <a:cs typeface="Arial"/>
              <a:sym typeface="Arial"/>
            </a:endParaRPr>
          </a:p>
        </p:txBody>
      </p:sp>
      <p:sp>
        <p:nvSpPr>
          <p:cNvPr id="269" name="Google Shape;269;p22"/>
          <p:cNvSpPr txBox="1"/>
          <p:nvPr>
            <p:ph idx="1" type="body"/>
          </p:nvPr>
        </p:nvSpPr>
        <p:spPr>
          <a:xfrm>
            <a:off x="353775" y="1825625"/>
            <a:ext cx="11437200" cy="4781400"/>
          </a:xfrm>
          <a:prstGeom prst="rect">
            <a:avLst/>
          </a:prstGeom>
          <a:noFill/>
          <a:ln>
            <a:noFill/>
          </a:ln>
        </p:spPr>
        <p:txBody>
          <a:bodyPr anchorCtr="0" anchor="t" bIns="91425" lIns="91425" spcFirstLastPara="1" rIns="91425" wrap="square" tIns="91425">
            <a:noAutofit/>
          </a:bodyPr>
          <a:lstStyle/>
          <a:p>
            <a:pPr indent="-406400" lvl="0" marL="457200" rtl="0" algn="l">
              <a:lnSpc>
                <a:spcPct val="90000"/>
              </a:lnSpc>
              <a:spcBef>
                <a:spcPts val="0"/>
              </a:spcBef>
              <a:spcAft>
                <a:spcPts val="0"/>
              </a:spcAft>
              <a:buSzPts val="2800"/>
              <a:buChar char="•"/>
            </a:pPr>
            <a:r>
              <a:rPr lang="en-US">
                <a:latin typeface="Arial"/>
                <a:ea typeface="Arial"/>
                <a:cs typeface="Arial"/>
                <a:sym typeface="Arial"/>
              </a:rPr>
              <a:t>Compiling the vulnerable code with all the countermeasures disabled. </a:t>
            </a:r>
            <a:endParaRPr>
              <a:latin typeface="Arial"/>
              <a:ea typeface="Arial"/>
              <a:cs typeface="Arial"/>
              <a:sym typeface="Arial"/>
            </a:endParaRPr>
          </a:p>
          <a:p>
            <a:pPr indent="0" lvl="0" marL="0" rtl="0" algn="l">
              <a:lnSpc>
                <a:spcPct val="90000"/>
              </a:lnSpc>
              <a:spcBef>
                <a:spcPts val="0"/>
              </a:spcBef>
              <a:spcAft>
                <a:spcPts val="0"/>
              </a:spcAft>
              <a:buSzPts val="2800"/>
              <a:buNone/>
            </a:pPr>
            <a:r>
              <a:t/>
            </a:r>
            <a:endParaRPr>
              <a:latin typeface="Arial"/>
              <a:ea typeface="Arial"/>
              <a:cs typeface="Arial"/>
              <a:sym typeface="Arial"/>
            </a:endParaRPr>
          </a:p>
          <a:p>
            <a:pPr indent="0" lvl="0" marL="0" rtl="0" algn="l">
              <a:lnSpc>
                <a:spcPct val="90000"/>
              </a:lnSpc>
              <a:spcBef>
                <a:spcPts val="0"/>
              </a:spcBef>
              <a:spcAft>
                <a:spcPts val="0"/>
              </a:spcAft>
              <a:buSzPts val="2800"/>
              <a:buNone/>
            </a:pPr>
            <a:r>
              <a:t/>
            </a:r>
            <a:endParaRPr>
              <a:latin typeface="Arial"/>
              <a:ea typeface="Arial"/>
              <a:cs typeface="Arial"/>
              <a:sym typeface="Arial"/>
            </a:endParaRPr>
          </a:p>
          <a:p>
            <a:pPr indent="0" lvl="0" marL="0" rtl="0" algn="l">
              <a:lnSpc>
                <a:spcPct val="90000"/>
              </a:lnSpc>
              <a:spcBef>
                <a:spcPts val="0"/>
              </a:spcBef>
              <a:spcAft>
                <a:spcPts val="0"/>
              </a:spcAft>
              <a:buSzPts val="2800"/>
              <a:buNone/>
            </a:pPr>
            <a:r>
              <a:t/>
            </a:r>
            <a:endParaRPr>
              <a:latin typeface="Arial"/>
              <a:ea typeface="Arial"/>
              <a:cs typeface="Arial"/>
              <a:sym typeface="Arial"/>
            </a:endParaRPr>
          </a:p>
          <a:p>
            <a:pPr indent="-228600" lvl="0" marL="457200" rtl="0" algn="l">
              <a:lnSpc>
                <a:spcPct val="90000"/>
              </a:lnSpc>
              <a:spcBef>
                <a:spcPts val="0"/>
              </a:spcBef>
              <a:spcAft>
                <a:spcPts val="0"/>
              </a:spcAft>
              <a:buSzPts val="2800"/>
              <a:buFont typeface="Arial"/>
              <a:buNone/>
            </a:pPr>
            <a:r>
              <a:t/>
            </a:r>
            <a:endParaRPr>
              <a:latin typeface="Arial"/>
              <a:ea typeface="Arial"/>
              <a:cs typeface="Arial"/>
              <a:sym typeface="Arial"/>
            </a:endParaRPr>
          </a:p>
          <a:p>
            <a:pPr indent="-406400" lvl="0" marL="457200" rtl="0" algn="l">
              <a:lnSpc>
                <a:spcPct val="90000"/>
              </a:lnSpc>
              <a:spcBef>
                <a:spcPts val="0"/>
              </a:spcBef>
              <a:spcAft>
                <a:spcPts val="0"/>
              </a:spcAft>
              <a:buSzPts val="2800"/>
              <a:buFont typeface="Arial"/>
              <a:buChar char="•"/>
            </a:pPr>
            <a:r>
              <a:rPr lang="en-US">
                <a:latin typeface="Arial"/>
                <a:ea typeface="Arial"/>
                <a:cs typeface="Arial"/>
                <a:sym typeface="Arial"/>
              </a:rPr>
              <a:t>Executing the exploit code and stack code.</a:t>
            </a:r>
            <a:endParaRPr>
              <a:latin typeface="Arial"/>
              <a:ea typeface="Arial"/>
              <a:cs typeface="Arial"/>
              <a:sym typeface="Arial"/>
            </a:endParaRPr>
          </a:p>
          <a:p>
            <a:pPr indent="0" lvl="0" marL="177800" rtl="0" algn="l">
              <a:lnSpc>
                <a:spcPct val="90000"/>
              </a:lnSpc>
              <a:spcBef>
                <a:spcPts val="0"/>
              </a:spcBef>
              <a:spcAft>
                <a:spcPts val="0"/>
              </a:spcAft>
              <a:buSzPts val="2800"/>
              <a:buNone/>
            </a:pPr>
            <a:r>
              <a:t/>
            </a:r>
            <a:endParaRPr/>
          </a:p>
        </p:txBody>
      </p:sp>
      <p:pic>
        <p:nvPicPr>
          <p:cNvPr id="270" name="Google Shape;270;p22"/>
          <p:cNvPicPr preferRelativeResize="0"/>
          <p:nvPr/>
        </p:nvPicPr>
        <p:blipFill rotWithShape="1">
          <a:blip r:embed="rId3">
            <a:alphaModFix/>
          </a:blip>
          <a:srcRect b="0" l="0" r="0" t="0"/>
          <a:stretch/>
        </p:blipFill>
        <p:spPr>
          <a:xfrm>
            <a:off x="838200" y="2769542"/>
            <a:ext cx="10622850" cy="1014425"/>
          </a:xfrm>
          <a:prstGeom prst="rect">
            <a:avLst/>
          </a:prstGeom>
          <a:noFill/>
          <a:ln>
            <a:noFill/>
          </a:ln>
        </p:spPr>
      </p:pic>
      <p:pic>
        <p:nvPicPr>
          <p:cNvPr descr="Screen Clipping" id="271" name="Google Shape;271;p22"/>
          <p:cNvPicPr preferRelativeResize="0"/>
          <p:nvPr/>
        </p:nvPicPr>
        <p:blipFill rotWithShape="1">
          <a:blip r:embed="rId4">
            <a:alphaModFix/>
          </a:blip>
          <a:srcRect b="0" l="0" r="0" t="0"/>
          <a:stretch/>
        </p:blipFill>
        <p:spPr>
          <a:xfrm>
            <a:off x="917804" y="4829016"/>
            <a:ext cx="8365343" cy="162045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3"/>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4400"/>
              <a:buFont typeface="Calibri"/>
              <a:buNone/>
            </a:pPr>
            <a:r>
              <a:rPr lang="en-US"/>
              <a:t>A Note on Countermeasure</a:t>
            </a:r>
            <a:endParaRPr/>
          </a:p>
        </p:txBody>
      </p:sp>
      <p:sp>
        <p:nvSpPr>
          <p:cNvPr id="277" name="Google Shape;277;p23"/>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p>
            <a:pPr indent="-219075" lvl="0" marL="396875" rtl="0" algn="l">
              <a:lnSpc>
                <a:spcPct val="90000"/>
              </a:lnSpc>
              <a:spcBef>
                <a:spcPts val="0"/>
              </a:spcBef>
              <a:spcAft>
                <a:spcPts val="0"/>
              </a:spcAft>
              <a:buSzPts val="2800"/>
              <a:buChar char="•"/>
            </a:pPr>
            <a:r>
              <a:rPr lang="en-US"/>
              <a:t>On Ubuntu16.04, /bin/sh points to /bin/dash, which has a countermeasure</a:t>
            </a:r>
            <a:endParaRPr/>
          </a:p>
          <a:p>
            <a:pPr indent="-152400" lvl="1" marL="685800" rtl="0" algn="l">
              <a:lnSpc>
                <a:spcPct val="90000"/>
              </a:lnSpc>
              <a:spcBef>
                <a:spcPts val="500"/>
              </a:spcBef>
              <a:spcAft>
                <a:spcPts val="0"/>
              </a:spcAft>
              <a:buSzPts val="2400"/>
              <a:buChar char="•"/>
            </a:pPr>
            <a:r>
              <a:rPr lang="en-US"/>
              <a:t> It drops privileges when being executed inside a setuid process</a:t>
            </a:r>
            <a:endParaRPr/>
          </a:p>
          <a:p>
            <a:pPr indent="-219075" lvl="0" marL="396875" rtl="0" algn="l">
              <a:lnSpc>
                <a:spcPct val="90000"/>
              </a:lnSpc>
              <a:spcBef>
                <a:spcPts val="1000"/>
              </a:spcBef>
              <a:spcAft>
                <a:spcPts val="0"/>
              </a:spcAft>
              <a:buSzPts val="2800"/>
              <a:buChar char="•"/>
            </a:pPr>
            <a:r>
              <a:rPr lang="en-US"/>
              <a:t>Point /bin/sh to another shell (simplify the attack)</a:t>
            </a:r>
            <a:endParaRPr/>
          </a:p>
          <a:p>
            <a:pPr indent="0" lvl="0" marL="177800" rtl="0" algn="l">
              <a:lnSpc>
                <a:spcPct val="90000"/>
              </a:lnSpc>
              <a:spcBef>
                <a:spcPts val="1000"/>
              </a:spcBef>
              <a:spcAft>
                <a:spcPts val="0"/>
              </a:spcAft>
              <a:buSzPts val="2800"/>
              <a:buNone/>
            </a:pPr>
            <a:r>
              <a:t/>
            </a:r>
            <a:endParaRPr/>
          </a:p>
          <a:p>
            <a:pPr indent="-219075" lvl="0" marL="396875" rtl="0" algn="l">
              <a:lnSpc>
                <a:spcPct val="90000"/>
              </a:lnSpc>
              <a:spcBef>
                <a:spcPts val="1000"/>
              </a:spcBef>
              <a:spcAft>
                <a:spcPts val="0"/>
              </a:spcAft>
              <a:buSzPts val="2800"/>
              <a:buChar char="•"/>
            </a:pPr>
            <a:r>
              <a:rPr lang="en-US"/>
              <a:t>Change the shellcode (defeat this countermeasure)</a:t>
            </a:r>
            <a:endParaRPr/>
          </a:p>
          <a:p>
            <a:pPr indent="0" lvl="0" marL="177800" rtl="0" algn="l">
              <a:lnSpc>
                <a:spcPct val="90000"/>
              </a:lnSpc>
              <a:spcBef>
                <a:spcPts val="1000"/>
              </a:spcBef>
              <a:spcAft>
                <a:spcPts val="0"/>
              </a:spcAft>
              <a:buSzPts val="2800"/>
              <a:buNone/>
            </a:pPr>
            <a:r>
              <a:t/>
            </a:r>
            <a:endParaRPr/>
          </a:p>
          <a:p>
            <a:pPr indent="-219075" lvl="0" marL="396875" rtl="0" algn="l">
              <a:lnSpc>
                <a:spcPct val="90000"/>
              </a:lnSpc>
              <a:spcBef>
                <a:spcPts val="1000"/>
              </a:spcBef>
              <a:spcAft>
                <a:spcPts val="0"/>
              </a:spcAft>
              <a:buSzPts val="2800"/>
              <a:buChar char="•"/>
            </a:pPr>
            <a:r>
              <a:rPr lang="en-US"/>
              <a:t>Other methods to defeat the countermeasure will be discussed later</a:t>
            </a:r>
            <a:endParaRPr/>
          </a:p>
        </p:txBody>
      </p:sp>
      <p:pic>
        <p:nvPicPr>
          <p:cNvPr descr="Screen Clipping" id="278" name="Google Shape;278;p23"/>
          <p:cNvPicPr preferRelativeResize="0"/>
          <p:nvPr/>
        </p:nvPicPr>
        <p:blipFill rotWithShape="1">
          <a:blip r:embed="rId3">
            <a:alphaModFix/>
          </a:blip>
          <a:srcRect b="0" l="0" r="0" t="0"/>
          <a:stretch/>
        </p:blipFill>
        <p:spPr>
          <a:xfrm>
            <a:off x="1315403" y="3772661"/>
            <a:ext cx="5108594" cy="282503"/>
          </a:xfrm>
          <a:prstGeom prst="rect">
            <a:avLst/>
          </a:prstGeom>
          <a:noFill/>
          <a:ln>
            <a:noFill/>
          </a:ln>
        </p:spPr>
      </p:pic>
      <p:pic>
        <p:nvPicPr>
          <p:cNvPr descr="Screen Clipping" id="279" name="Google Shape;279;p23"/>
          <p:cNvPicPr preferRelativeResize="0"/>
          <p:nvPr/>
        </p:nvPicPr>
        <p:blipFill rotWithShape="1">
          <a:blip r:embed="rId4">
            <a:alphaModFix/>
          </a:blip>
          <a:srcRect b="0" l="0" r="0" t="0"/>
          <a:stretch/>
        </p:blipFill>
        <p:spPr>
          <a:xfrm>
            <a:off x="1315403" y="4782641"/>
            <a:ext cx="5532398" cy="4155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4"/>
          <p:cNvSpPr txBox="1"/>
          <p:nvPr>
            <p:ph type="title"/>
          </p:nvPr>
        </p:nvSpPr>
        <p:spPr>
          <a:xfrm>
            <a:off x="838200" y="85550"/>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Shellcode</a:t>
            </a:r>
            <a:endParaRPr>
              <a:latin typeface="Arial"/>
              <a:ea typeface="Arial"/>
              <a:cs typeface="Arial"/>
              <a:sym typeface="Arial"/>
            </a:endParaRPr>
          </a:p>
        </p:txBody>
      </p:sp>
      <p:sp>
        <p:nvSpPr>
          <p:cNvPr id="285" name="Google Shape;285;p24"/>
          <p:cNvSpPr txBox="1"/>
          <p:nvPr>
            <p:ph idx="1" type="body"/>
          </p:nvPr>
        </p:nvSpPr>
        <p:spPr>
          <a:xfrm>
            <a:off x="582000" y="1289875"/>
            <a:ext cx="11232300" cy="5412900"/>
          </a:xfrm>
          <a:prstGeom prst="rect">
            <a:avLst/>
          </a:prstGeom>
          <a:noFill/>
          <a:ln>
            <a:noFill/>
          </a:ln>
        </p:spPr>
        <p:txBody>
          <a:bodyPr anchorCtr="0" anchor="t" bIns="91425" lIns="91425" spcFirstLastPara="1" rIns="91425" wrap="square" tIns="91425">
            <a:noAutofit/>
          </a:bodyPr>
          <a:lstStyle/>
          <a:p>
            <a:pPr indent="-50800" lvl="0" marL="228600" rtl="0" algn="l">
              <a:lnSpc>
                <a:spcPct val="90000"/>
              </a:lnSpc>
              <a:spcBef>
                <a:spcPts val="0"/>
              </a:spcBef>
              <a:spcAft>
                <a:spcPts val="0"/>
              </a:spcAft>
              <a:buSzPts val="2800"/>
              <a:buNone/>
            </a:pPr>
            <a:r>
              <a:rPr b="1" lang="en-US">
                <a:latin typeface="Arial"/>
                <a:ea typeface="Arial"/>
                <a:cs typeface="Arial"/>
                <a:sym typeface="Arial"/>
              </a:rPr>
              <a:t>Aim of the malicious code : </a:t>
            </a:r>
            <a:r>
              <a:rPr lang="en-US">
                <a:latin typeface="Arial"/>
                <a:ea typeface="Arial"/>
                <a:cs typeface="Arial"/>
                <a:sym typeface="Arial"/>
              </a:rPr>
              <a:t>Allow to run more commands (i.e) to gain access of the system.</a:t>
            </a:r>
            <a:endParaRPr>
              <a:latin typeface="Arial"/>
              <a:ea typeface="Arial"/>
              <a:cs typeface="Arial"/>
              <a:sym typeface="Arial"/>
            </a:endParaRPr>
          </a:p>
          <a:p>
            <a:pPr indent="-50800" lvl="0" marL="228600" rtl="0" algn="l">
              <a:lnSpc>
                <a:spcPct val="90000"/>
              </a:lnSpc>
              <a:spcBef>
                <a:spcPts val="0"/>
              </a:spcBef>
              <a:spcAft>
                <a:spcPts val="0"/>
              </a:spcAft>
              <a:buSzPts val="2800"/>
              <a:buNone/>
            </a:pPr>
            <a:r>
              <a:t/>
            </a:r>
            <a:endParaRPr b="1">
              <a:latin typeface="Arial"/>
              <a:ea typeface="Arial"/>
              <a:cs typeface="Arial"/>
              <a:sym typeface="Arial"/>
            </a:endParaRPr>
          </a:p>
          <a:p>
            <a:pPr indent="-50800" lvl="0" marL="228600" rtl="0" algn="l">
              <a:lnSpc>
                <a:spcPct val="90000"/>
              </a:lnSpc>
              <a:spcBef>
                <a:spcPts val="0"/>
              </a:spcBef>
              <a:spcAft>
                <a:spcPts val="0"/>
              </a:spcAft>
              <a:buSzPts val="2800"/>
              <a:buNone/>
            </a:pPr>
            <a:r>
              <a:rPr b="1" lang="en-US">
                <a:latin typeface="Arial"/>
                <a:ea typeface="Arial"/>
                <a:cs typeface="Arial"/>
                <a:sym typeface="Arial"/>
              </a:rPr>
              <a:t>Solution : </a:t>
            </a:r>
            <a:r>
              <a:rPr lang="en-US">
                <a:latin typeface="Arial"/>
                <a:ea typeface="Arial"/>
                <a:cs typeface="Arial"/>
                <a:sym typeface="Arial"/>
              </a:rPr>
              <a:t>Shell Program</a:t>
            </a:r>
            <a:endParaRPr>
              <a:latin typeface="Arial"/>
              <a:ea typeface="Arial"/>
              <a:cs typeface="Arial"/>
              <a:sym typeface="Arial"/>
            </a:endParaRPr>
          </a:p>
          <a:p>
            <a:pPr indent="-50800" lvl="0" marL="228600" rtl="0" algn="l">
              <a:lnSpc>
                <a:spcPct val="90000"/>
              </a:lnSpc>
              <a:spcBef>
                <a:spcPts val="0"/>
              </a:spcBef>
              <a:spcAft>
                <a:spcPts val="0"/>
              </a:spcAft>
              <a:buSzPts val="2800"/>
              <a:buNone/>
            </a:pPr>
            <a:r>
              <a:t/>
            </a:r>
            <a:endParaRPr>
              <a:latin typeface="Arial"/>
              <a:ea typeface="Arial"/>
              <a:cs typeface="Arial"/>
              <a:sym typeface="Arial"/>
            </a:endParaRPr>
          </a:p>
          <a:p>
            <a:pPr indent="-50800" lvl="0" marL="228600" rtl="0" algn="l">
              <a:lnSpc>
                <a:spcPct val="90000"/>
              </a:lnSpc>
              <a:spcBef>
                <a:spcPts val="0"/>
              </a:spcBef>
              <a:spcAft>
                <a:spcPts val="0"/>
              </a:spcAft>
              <a:buSzPts val="2800"/>
              <a:buNone/>
            </a:pPr>
            <a:r>
              <a:t/>
            </a:r>
            <a:endParaRPr>
              <a:latin typeface="Arial"/>
              <a:ea typeface="Arial"/>
              <a:cs typeface="Arial"/>
              <a:sym typeface="Arial"/>
            </a:endParaRPr>
          </a:p>
          <a:p>
            <a:pPr indent="-50800" lvl="0" marL="228600" rtl="0" algn="l">
              <a:lnSpc>
                <a:spcPct val="90000"/>
              </a:lnSpc>
              <a:spcBef>
                <a:spcPts val="0"/>
              </a:spcBef>
              <a:spcAft>
                <a:spcPts val="0"/>
              </a:spcAft>
              <a:buSzPts val="2800"/>
              <a:buNone/>
            </a:pPr>
            <a:r>
              <a:t/>
            </a:r>
            <a:endParaRPr>
              <a:latin typeface="Arial"/>
              <a:ea typeface="Arial"/>
              <a:cs typeface="Arial"/>
              <a:sym typeface="Arial"/>
            </a:endParaRPr>
          </a:p>
          <a:p>
            <a:pPr indent="-50800" lvl="0" marL="228600" rtl="0" algn="l">
              <a:lnSpc>
                <a:spcPct val="90000"/>
              </a:lnSpc>
              <a:spcBef>
                <a:spcPts val="0"/>
              </a:spcBef>
              <a:spcAft>
                <a:spcPts val="0"/>
              </a:spcAft>
              <a:buSzPts val="2800"/>
              <a:buNone/>
            </a:pPr>
            <a:r>
              <a:t/>
            </a:r>
            <a:endParaRPr>
              <a:latin typeface="Arial"/>
              <a:ea typeface="Arial"/>
              <a:cs typeface="Arial"/>
              <a:sym typeface="Arial"/>
            </a:endParaRPr>
          </a:p>
          <a:p>
            <a:pPr indent="-50800" lvl="0" marL="228600" rtl="0" algn="l">
              <a:lnSpc>
                <a:spcPct val="90000"/>
              </a:lnSpc>
              <a:spcBef>
                <a:spcPts val="0"/>
              </a:spcBef>
              <a:spcAft>
                <a:spcPts val="0"/>
              </a:spcAft>
              <a:buSzPts val="2800"/>
              <a:buNone/>
            </a:pPr>
            <a:r>
              <a:t/>
            </a:r>
            <a:endParaRPr>
              <a:latin typeface="Arial"/>
              <a:ea typeface="Arial"/>
              <a:cs typeface="Arial"/>
              <a:sym typeface="Arial"/>
            </a:endParaRPr>
          </a:p>
          <a:p>
            <a:pPr indent="-50800" lvl="0" marL="228600" rtl="0" algn="l">
              <a:lnSpc>
                <a:spcPct val="90000"/>
              </a:lnSpc>
              <a:spcBef>
                <a:spcPts val="0"/>
              </a:spcBef>
              <a:spcAft>
                <a:spcPts val="0"/>
              </a:spcAft>
              <a:buSzPts val="2800"/>
              <a:buNone/>
            </a:pPr>
            <a:r>
              <a:t/>
            </a:r>
            <a:endParaRPr>
              <a:latin typeface="Arial"/>
              <a:ea typeface="Arial"/>
              <a:cs typeface="Arial"/>
              <a:sym typeface="Arial"/>
            </a:endParaRPr>
          </a:p>
          <a:p>
            <a:pPr indent="-50800" lvl="0" marL="228600" rtl="0" algn="l">
              <a:lnSpc>
                <a:spcPct val="90000"/>
              </a:lnSpc>
              <a:spcBef>
                <a:spcPts val="0"/>
              </a:spcBef>
              <a:spcAft>
                <a:spcPts val="0"/>
              </a:spcAft>
              <a:buSzPts val="2800"/>
              <a:buNone/>
            </a:pPr>
            <a:r>
              <a:rPr b="1" lang="en-US">
                <a:latin typeface="Arial"/>
                <a:ea typeface="Arial"/>
                <a:cs typeface="Arial"/>
                <a:sym typeface="Arial"/>
              </a:rPr>
              <a:t>Challenges :</a:t>
            </a:r>
            <a:endParaRPr b="1">
              <a:latin typeface="Arial"/>
              <a:ea typeface="Arial"/>
              <a:cs typeface="Arial"/>
              <a:sym typeface="Arial"/>
            </a:endParaRPr>
          </a:p>
          <a:p>
            <a:pPr indent="-406400" lvl="1" marL="914400" rtl="0" algn="l">
              <a:lnSpc>
                <a:spcPct val="90000"/>
              </a:lnSpc>
              <a:spcBef>
                <a:spcPts val="0"/>
              </a:spcBef>
              <a:spcAft>
                <a:spcPts val="0"/>
              </a:spcAft>
              <a:buSzPts val="2800"/>
              <a:buChar char="•"/>
            </a:pPr>
            <a:r>
              <a:rPr lang="en-US">
                <a:latin typeface="Arial"/>
                <a:ea typeface="Arial"/>
                <a:cs typeface="Arial"/>
                <a:sym typeface="Arial"/>
              </a:rPr>
              <a:t>Loader Issue						</a:t>
            </a:r>
            <a:endParaRPr>
              <a:latin typeface="Arial"/>
              <a:ea typeface="Arial"/>
              <a:cs typeface="Arial"/>
              <a:sym typeface="Arial"/>
            </a:endParaRPr>
          </a:p>
          <a:p>
            <a:pPr indent="-406400" lvl="1" marL="914400" rtl="0" algn="l">
              <a:lnSpc>
                <a:spcPct val="90000"/>
              </a:lnSpc>
              <a:spcBef>
                <a:spcPts val="0"/>
              </a:spcBef>
              <a:spcAft>
                <a:spcPts val="0"/>
              </a:spcAft>
              <a:buSzPts val="2800"/>
              <a:buChar char="•"/>
            </a:pPr>
            <a:r>
              <a:rPr lang="en-US">
                <a:latin typeface="Arial"/>
                <a:ea typeface="Arial"/>
                <a:cs typeface="Arial"/>
                <a:sym typeface="Arial"/>
              </a:rPr>
              <a:t>Zeros in the code</a:t>
            </a:r>
            <a:endParaRPr>
              <a:latin typeface="Arial"/>
              <a:ea typeface="Arial"/>
              <a:cs typeface="Arial"/>
              <a:sym typeface="Arial"/>
            </a:endParaRPr>
          </a:p>
        </p:txBody>
      </p:sp>
      <p:pic>
        <p:nvPicPr>
          <p:cNvPr id="286" name="Google Shape;286;p24"/>
          <p:cNvPicPr preferRelativeResize="0"/>
          <p:nvPr/>
        </p:nvPicPr>
        <p:blipFill rotWithShape="1">
          <a:blip r:embed="rId3">
            <a:alphaModFix/>
          </a:blip>
          <a:srcRect b="0" l="0" r="0" t="0"/>
          <a:stretch/>
        </p:blipFill>
        <p:spPr>
          <a:xfrm>
            <a:off x="838200" y="2949687"/>
            <a:ext cx="10643701" cy="2214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5"/>
          <p:cNvSpPr txBox="1"/>
          <p:nvPr>
            <p:ph type="title"/>
          </p:nvPr>
        </p:nvSpPr>
        <p:spPr>
          <a:xfrm>
            <a:off x="838200" y="281250"/>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Shelllcode</a:t>
            </a:r>
            <a:endParaRPr>
              <a:latin typeface="Arial"/>
              <a:ea typeface="Arial"/>
              <a:cs typeface="Arial"/>
              <a:sym typeface="Arial"/>
            </a:endParaRPr>
          </a:p>
        </p:txBody>
      </p:sp>
      <p:sp>
        <p:nvSpPr>
          <p:cNvPr id="292" name="Google Shape;292;p25"/>
          <p:cNvSpPr txBox="1"/>
          <p:nvPr>
            <p:ph idx="1" type="body"/>
          </p:nvPr>
        </p:nvSpPr>
        <p:spPr>
          <a:xfrm>
            <a:off x="734025" y="1454100"/>
            <a:ext cx="10821600" cy="5201100"/>
          </a:xfrm>
          <a:prstGeom prst="rect">
            <a:avLst/>
          </a:prstGeom>
          <a:noFill/>
          <a:ln>
            <a:noFill/>
          </a:ln>
        </p:spPr>
        <p:txBody>
          <a:bodyPr anchorCtr="0" anchor="t" bIns="91425" lIns="91425" spcFirstLastPara="1" rIns="91425" wrap="square" tIns="91425">
            <a:noAutofit/>
          </a:bodyPr>
          <a:lstStyle/>
          <a:p>
            <a:pPr indent="-406400" lvl="0" marL="457200" rtl="0" algn="l">
              <a:lnSpc>
                <a:spcPct val="100000"/>
              </a:lnSpc>
              <a:spcBef>
                <a:spcPts val="0"/>
              </a:spcBef>
              <a:spcAft>
                <a:spcPts val="0"/>
              </a:spcAft>
              <a:buSzPts val="2800"/>
              <a:buChar char="•"/>
            </a:pPr>
            <a:r>
              <a:rPr lang="en-US">
                <a:latin typeface="Arial"/>
                <a:ea typeface="Arial"/>
                <a:cs typeface="Arial"/>
                <a:sym typeface="Arial"/>
              </a:rPr>
              <a:t>Assembly code (machine instructions) for launching a shell. </a:t>
            </a:r>
            <a:endParaRPr>
              <a:latin typeface="Arial"/>
              <a:ea typeface="Arial"/>
              <a:cs typeface="Arial"/>
              <a:sym typeface="Arial"/>
            </a:endParaRPr>
          </a:p>
          <a:p>
            <a:pPr indent="-228600" lvl="0" marL="457200" rtl="0" algn="l">
              <a:lnSpc>
                <a:spcPct val="100000"/>
              </a:lnSpc>
              <a:spcBef>
                <a:spcPts val="0"/>
              </a:spcBef>
              <a:spcAft>
                <a:spcPts val="0"/>
              </a:spcAft>
              <a:buSzPts val="2800"/>
              <a:buNone/>
            </a:pPr>
            <a:r>
              <a:t/>
            </a:r>
            <a:endParaRPr>
              <a:latin typeface="Arial"/>
              <a:ea typeface="Arial"/>
              <a:cs typeface="Arial"/>
              <a:sym typeface="Arial"/>
            </a:endParaRPr>
          </a:p>
          <a:p>
            <a:pPr indent="-406400" lvl="0" marL="457200" rtl="0" algn="l">
              <a:lnSpc>
                <a:spcPct val="90000"/>
              </a:lnSpc>
              <a:spcBef>
                <a:spcPts val="0"/>
              </a:spcBef>
              <a:spcAft>
                <a:spcPts val="0"/>
              </a:spcAft>
              <a:buSzPts val="2800"/>
              <a:buChar char="•"/>
            </a:pPr>
            <a:r>
              <a:rPr lang="en-US">
                <a:latin typeface="Arial"/>
                <a:ea typeface="Arial"/>
                <a:cs typeface="Arial"/>
                <a:sym typeface="Arial"/>
              </a:rPr>
              <a:t>Goal: Use </a:t>
            </a:r>
            <a:r>
              <a:rPr i="1" lang="en-US">
                <a:latin typeface="Courier New"/>
                <a:ea typeface="Courier New"/>
                <a:cs typeface="Courier New"/>
                <a:sym typeface="Courier New"/>
              </a:rPr>
              <a:t>execve(“/bin/sh”, argv, 0) </a:t>
            </a:r>
            <a:r>
              <a:rPr lang="en-US">
                <a:latin typeface="Arial"/>
                <a:ea typeface="Arial"/>
                <a:cs typeface="Arial"/>
                <a:sym typeface="Arial"/>
              </a:rPr>
              <a:t>to run shell</a:t>
            </a:r>
            <a:endParaRPr>
              <a:latin typeface="Arial"/>
              <a:ea typeface="Arial"/>
              <a:cs typeface="Arial"/>
              <a:sym typeface="Arial"/>
            </a:endParaRPr>
          </a:p>
          <a:p>
            <a:pPr indent="-228600" lvl="0" marL="457200" rtl="0" algn="l">
              <a:lnSpc>
                <a:spcPct val="90000"/>
              </a:lnSpc>
              <a:spcBef>
                <a:spcPts val="0"/>
              </a:spcBef>
              <a:spcAft>
                <a:spcPts val="0"/>
              </a:spcAft>
              <a:buSzPts val="2800"/>
              <a:buNone/>
            </a:pPr>
            <a:r>
              <a:t/>
            </a:r>
            <a:endParaRPr>
              <a:latin typeface="Arial"/>
              <a:ea typeface="Arial"/>
              <a:cs typeface="Arial"/>
              <a:sym typeface="Arial"/>
            </a:endParaRPr>
          </a:p>
          <a:p>
            <a:pPr indent="-406400" lvl="0" marL="457200" rtl="0" algn="l">
              <a:lnSpc>
                <a:spcPct val="90000"/>
              </a:lnSpc>
              <a:spcBef>
                <a:spcPts val="0"/>
              </a:spcBef>
              <a:spcAft>
                <a:spcPts val="0"/>
              </a:spcAft>
              <a:buSzPts val="2800"/>
              <a:buChar char="•"/>
            </a:pPr>
            <a:r>
              <a:rPr lang="en-US">
                <a:latin typeface="Arial"/>
                <a:ea typeface="Arial"/>
                <a:cs typeface="Arial"/>
                <a:sym typeface="Arial"/>
              </a:rPr>
              <a:t>Registers used:</a:t>
            </a:r>
            <a:endParaRPr>
              <a:latin typeface="Arial"/>
              <a:ea typeface="Arial"/>
              <a:cs typeface="Arial"/>
              <a:sym typeface="Arial"/>
            </a:endParaRPr>
          </a:p>
          <a:p>
            <a:pPr indent="457200" lvl="0" marL="0" rtl="0" algn="l">
              <a:lnSpc>
                <a:spcPct val="90000"/>
              </a:lnSpc>
              <a:spcBef>
                <a:spcPts val="0"/>
              </a:spcBef>
              <a:spcAft>
                <a:spcPts val="0"/>
              </a:spcAft>
              <a:buSzPts val="2800"/>
              <a:buNone/>
            </a:pPr>
            <a:r>
              <a:rPr lang="en-US">
                <a:latin typeface="Arial"/>
                <a:ea typeface="Arial"/>
                <a:cs typeface="Arial"/>
                <a:sym typeface="Arial"/>
              </a:rPr>
              <a:t>eax = 0x0000000b (11) : Value of system call execve()</a:t>
            </a:r>
            <a:endParaRPr>
              <a:latin typeface="Arial"/>
              <a:ea typeface="Arial"/>
              <a:cs typeface="Arial"/>
              <a:sym typeface="Arial"/>
            </a:endParaRPr>
          </a:p>
          <a:p>
            <a:pPr indent="457200" lvl="0" marL="0" rtl="0" algn="l">
              <a:lnSpc>
                <a:spcPct val="90000"/>
              </a:lnSpc>
              <a:spcBef>
                <a:spcPts val="0"/>
              </a:spcBef>
              <a:spcAft>
                <a:spcPts val="0"/>
              </a:spcAft>
              <a:buSzPts val="2800"/>
              <a:buNone/>
            </a:pPr>
            <a:r>
              <a:rPr lang="en-US">
                <a:latin typeface="Arial"/>
                <a:ea typeface="Arial"/>
                <a:cs typeface="Arial"/>
                <a:sym typeface="Arial"/>
              </a:rPr>
              <a:t>ebx = address to “/bin/sh”</a:t>
            </a:r>
            <a:endParaRPr>
              <a:latin typeface="Arial"/>
              <a:ea typeface="Arial"/>
              <a:cs typeface="Arial"/>
              <a:sym typeface="Arial"/>
            </a:endParaRPr>
          </a:p>
          <a:p>
            <a:pPr indent="0" lvl="0" marL="457200" rtl="0" algn="l">
              <a:lnSpc>
                <a:spcPct val="90000"/>
              </a:lnSpc>
              <a:spcBef>
                <a:spcPts val="0"/>
              </a:spcBef>
              <a:spcAft>
                <a:spcPts val="0"/>
              </a:spcAft>
              <a:buSzPts val="2800"/>
              <a:buNone/>
            </a:pPr>
            <a:r>
              <a:rPr lang="en-US">
                <a:latin typeface="Arial"/>
                <a:ea typeface="Arial"/>
                <a:cs typeface="Arial"/>
                <a:sym typeface="Arial"/>
              </a:rPr>
              <a:t>ecx = address of the argument array. </a:t>
            </a:r>
            <a:endParaRPr>
              <a:latin typeface="Arial"/>
              <a:ea typeface="Arial"/>
              <a:cs typeface="Arial"/>
              <a:sym typeface="Arial"/>
            </a:endParaRPr>
          </a:p>
          <a:p>
            <a:pPr indent="-457200" lvl="1" marL="1371600" rtl="0" algn="l">
              <a:lnSpc>
                <a:spcPct val="90000"/>
              </a:lnSpc>
              <a:spcBef>
                <a:spcPts val="0"/>
              </a:spcBef>
              <a:spcAft>
                <a:spcPts val="0"/>
              </a:spcAft>
              <a:buSzPts val="2400"/>
              <a:buChar char="•"/>
            </a:pPr>
            <a:r>
              <a:rPr lang="en-US">
                <a:latin typeface="Arial"/>
                <a:ea typeface="Arial"/>
                <a:cs typeface="Arial"/>
                <a:sym typeface="Arial"/>
              </a:rPr>
              <a:t>argv[0] = the address of “/bin/sh” </a:t>
            </a:r>
            <a:endParaRPr>
              <a:latin typeface="Arial"/>
              <a:ea typeface="Arial"/>
              <a:cs typeface="Arial"/>
              <a:sym typeface="Arial"/>
            </a:endParaRPr>
          </a:p>
          <a:p>
            <a:pPr indent="-457200" lvl="1" marL="1371600" rtl="0" algn="l">
              <a:lnSpc>
                <a:spcPct val="90000"/>
              </a:lnSpc>
              <a:spcBef>
                <a:spcPts val="0"/>
              </a:spcBef>
              <a:spcAft>
                <a:spcPts val="0"/>
              </a:spcAft>
              <a:buSzPts val="2400"/>
              <a:buChar char="•"/>
            </a:pPr>
            <a:r>
              <a:rPr lang="en-US">
                <a:latin typeface="Arial"/>
                <a:ea typeface="Arial"/>
                <a:cs typeface="Arial"/>
                <a:sym typeface="Arial"/>
              </a:rPr>
              <a:t>argv[1] = 0 (i.e., no more arguments)</a:t>
            </a:r>
            <a:endParaRPr>
              <a:latin typeface="Arial"/>
              <a:ea typeface="Arial"/>
              <a:cs typeface="Arial"/>
              <a:sym typeface="Arial"/>
            </a:endParaRPr>
          </a:p>
          <a:p>
            <a:pPr indent="457200" lvl="0" marL="0" rtl="0" algn="l">
              <a:lnSpc>
                <a:spcPct val="90000"/>
              </a:lnSpc>
              <a:spcBef>
                <a:spcPts val="0"/>
              </a:spcBef>
              <a:spcAft>
                <a:spcPts val="0"/>
              </a:spcAft>
              <a:buSzPts val="2800"/>
              <a:buNone/>
            </a:pPr>
            <a:r>
              <a:rPr lang="en-US">
                <a:latin typeface="Arial"/>
                <a:ea typeface="Arial"/>
                <a:cs typeface="Arial"/>
                <a:sym typeface="Arial"/>
              </a:rPr>
              <a:t>edx = zero (no environment variables are passed).</a:t>
            </a:r>
            <a:endParaRPr>
              <a:latin typeface="Arial"/>
              <a:ea typeface="Arial"/>
              <a:cs typeface="Arial"/>
              <a:sym typeface="Arial"/>
            </a:endParaRPr>
          </a:p>
          <a:p>
            <a:pPr indent="457200" lvl="0" marL="0" rtl="0" algn="l">
              <a:lnSpc>
                <a:spcPct val="90000"/>
              </a:lnSpc>
              <a:spcBef>
                <a:spcPts val="0"/>
              </a:spcBef>
              <a:spcAft>
                <a:spcPts val="0"/>
              </a:spcAft>
              <a:buSzPts val="2800"/>
              <a:buNone/>
            </a:pPr>
            <a:r>
              <a:rPr lang="en-US">
                <a:latin typeface="Arial"/>
                <a:ea typeface="Arial"/>
                <a:cs typeface="Arial"/>
                <a:sym typeface="Arial"/>
              </a:rPr>
              <a:t>int 0x80:  invoke execve()</a:t>
            </a:r>
            <a:br>
              <a:rPr lang="en-US">
                <a:latin typeface="Arial"/>
                <a:ea typeface="Arial"/>
                <a:cs typeface="Arial"/>
                <a:sym typeface="Arial"/>
              </a:rPr>
            </a:br>
            <a:endParaRPr>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6"/>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Shellcode</a:t>
            </a:r>
            <a:endParaRPr/>
          </a:p>
        </p:txBody>
      </p:sp>
      <p:pic>
        <p:nvPicPr>
          <p:cNvPr id="298" name="Google Shape;298;p26"/>
          <p:cNvPicPr preferRelativeResize="0"/>
          <p:nvPr/>
        </p:nvPicPr>
        <p:blipFill rotWithShape="1">
          <a:blip r:embed="rId3">
            <a:alphaModFix/>
          </a:blip>
          <a:srcRect b="0" l="0" r="0" t="0"/>
          <a:stretch/>
        </p:blipFill>
        <p:spPr>
          <a:xfrm>
            <a:off x="838200" y="1767025"/>
            <a:ext cx="11255829" cy="4503146"/>
          </a:xfrm>
          <a:prstGeom prst="rect">
            <a:avLst/>
          </a:prstGeom>
          <a:noFill/>
          <a:ln>
            <a:noFill/>
          </a:ln>
        </p:spPr>
      </p:pic>
      <p:cxnSp>
        <p:nvCxnSpPr>
          <p:cNvPr id="299" name="Google Shape;299;p26"/>
          <p:cNvCxnSpPr/>
          <p:nvPr/>
        </p:nvCxnSpPr>
        <p:spPr>
          <a:xfrm rot="10800000">
            <a:off x="8410125" y="2334925"/>
            <a:ext cx="335400" cy="0"/>
          </a:xfrm>
          <a:prstGeom prst="straightConnector1">
            <a:avLst/>
          </a:prstGeom>
          <a:noFill/>
          <a:ln cap="flat" cmpd="sng" w="28575">
            <a:solidFill>
              <a:srgbClr val="000000"/>
            </a:solidFill>
            <a:prstDash val="solid"/>
            <a:round/>
            <a:headEnd len="sm" w="sm" type="none"/>
            <a:tailEnd len="lg" w="lg" type="triangle"/>
          </a:ln>
        </p:spPr>
      </p:cxnSp>
      <p:sp>
        <p:nvSpPr>
          <p:cNvPr id="300" name="Google Shape;300;p26"/>
          <p:cNvSpPr txBox="1"/>
          <p:nvPr/>
        </p:nvSpPr>
        <p:spPr>
          <a:xfrm>
            <a:off x="8745525" y="2062225"/>
            <a:ext cx="3062100" cy="54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%eax = 0 (avoid 0 in code)</a:t>
            </a:r>
            <a:endParaRPr b="1" i="0" sz="1800" u="none" cap="none" strike="noStrike">
              <a:solidFill>
                <a:srgbClr val="000000"/>
              </a:solidFill>
              <a:latin typeface="Arial"/>
              <a:ea typeface="Arial"/>
              <a:cs typeface="Arial"/>
              <a:sym typeface="Arial"/>
            </a:endParaRPr>
          </a:p>
        </p:txBody>
      </p:sp>
      <p:sp>
        <p:nvSpPr>
          <p:cNvPr id="301" name="Google Shape;301;p26"/>
          <p:cNvSpPr txBox="1"/>
          <p:nvPr/>
        </p:nvSpPr>
        <p:spPr>
          <a:xfrm>
            <a:off x="8745525" y="2424350"/>
            <a:ext cx="3062100" cy="54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set end of string “/bin/sh”</a:t>
            </a:r>
            <a:endParaRPr b="1" i="0" sz="1800" u="none" cap="none" strike="noStrike">
              <a:solidFill>
                <a:srgbClr val="000000"/>
              </a:solidFill>
              <a:latin typeface="Arial"/>
              <a:ea typeface="Arial"/>
              <a:cs typeface="Arial"/>
              <a:sym typeface="Arial"/>
            </a:endParaRPr>
          </a:p>
        </p:txBody>
      </p:sp>
      <p:cxnSp>
        <p:nvCxnSpPr>
          <p:cNvPr id="302" name="Google Shape;302;p26"/>
          <p:cNvCxnSpPr/>
          <p:nvPr/>
        </p:nvCxnSpPr>
        <p:spPr>
          <a:xfrm rot="10800000">
            <a:off x="8410125" y="2697050"/>
            <a:ext cx="335400" cy="0"/>
          </a:xfrm>
          <a:prstGeom prst="straightConnector1">
            <a:avLst/>
          </a:prstGeom>
          <a:noFill/>
          <a:ln cap="flat" cmpd="sng" w="28575">
            <a:solidFill>
              <a:srgbClr val="000000"/>
            </a:solidFill>
            <a:prstDash val="solid"/>
            <a:round/>
            <a:headEnd len="sm" w="sm" type="none"/>
            <a:tailEnd len="lg" w="lg"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7"/>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Shellcode</a:t>
            </a:r>
            <a:endParaRPr>
              <a:latin typeface="Arial"/>
              <a:ea typeface="Arial"/>
              <a:cs typeface="Arial"/>
              <a:sym typeface="Arial"/>
            </a:endParaRPr>
          </a:p>
        </p:txBody>
      </p:sp>
      <p:pic>
        <p:nvPicPr>
          <p:cNvPr id="308" name="Google Shape;308;p27"/>
          <p:cNvPicPr preferRelativeResize="0"/>
          <p:nvPr/>
        </p:nvPicPr>
        <p:blipFill rotWithShape="1">
          <a:blip r:embed="rId3">
            <a:alphaModFix/>
          </a:blip>
          <a:srcRect b="0" l="0" r="0" t="0"/>
          <a:stretch/>
        </p:blipFill>
        <p:spPr>
          <a:xfrm>
            <a:off x="1524387" y="1452675"/>
            <a:ext cx="9143237" cy="5281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8"/>
          <p:cNvSpPr txBox="1"/>
          <p:nvPr>
            <p:ph type="title"/>
          </p:nvPr>
        </p:nvSpPr>
        <p:spPr>
          <a:xfrm>
            <a:off x="838200" y="365125"/>
            <a:ext cx="10515600" cy="1052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Countermeasures</a:t>
            </a:r>
            <a:endParaRPr>
              <a:latin typeface="Arial"/>
              <a:ea typeface="Arial"/>
              <a:cs typeface="Arial"/>
              <a:sym typeface="Arial"/>
            </a:endParaRPr>
          </a:p>
        </p:txBody>
      </p:sp>
      <p:sp>
        <p:nvSpPr>
          <p:cNvPr id="314" name="Google Shape;314;p28"/>
          <p:cNvSpPr txBox="1"/>
          <p:nvPr>
            <p:ph idx="1" type="body"/>
          </p:nvPr>
        </p:nvSpPr>
        <p:spPr>
          <a:xfrm>
            <a:off x="838200" y="1341507"/>
            <a:ext cx="10269450" cy="5045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2800"/>
              <a:buNone/>
            </a:pPr>
            <a:r>
              <a:rPr b="1" lang="en-US" sz="2400">
                <a:latin typeface="Arial"/>
                <a:ea typeface="Arial"/>
                <a:cs typeface="Arial"/>
                <a:sym typeface="Arial"/>
              </a:rPr>
              <a:t>Developer approaches:</a:t>
            </a:r>
            <a:endParaRPr b="1" sz="2400">
              <a:latin typeface="Arial"/>
              <a:ea typeface="Arial"/>
              <a:cs typeface="Arial"/>
              <a:sym typeface="Arial"/>
            </a:endParaRPr>
          </a:p>
          <a:p>
            <a:pPr indent="-381000" lvl="0" marL="457200" rtl="0" algn="l">
              <a:lnSpc>
                <a:spcPct val="150000"/>
              </a:lnSpc>
              <a:spcBef>
                <a:spcPts val="0"/>
              </a:spcBef>
              <a:spcAft>
                <a:spcPts val="0"/>
              </a:spcAft>
              <a:buSzPts val="2400"/>
              <a:buChar char="•"/>
            </a:pPr>
            <a:r>
              <a:rPr lang="en-US" sz="2400">
                <a:latin typeface="Arial"/>
                <a:ea typeface="Arial"/>
                <a:cs typeface="Arial"/>
                <a:sym typeface="Arial"/>
              </a:rPr>
              <a:t>Use of safer functions like strncpy(), strncat() etc, safer dynamic link libraries that check the length of the data before copying.</a:t>
            </a:r>
            <a:endParaRPr sz="2400">
              <a:latin typeface="Arial"/>
              <a:ea typeface="Arial"/>
              <a:cs typeface="Arial"/>
              <a:sym typeface="Arial"/>
            </a:endParaRPr>
          </a:p>
          <a:p>
            <a:pPr indent="0" lvl="0" marL="0" rtl="0" algn="l">
              <a:lnSpc>
                <a:spcPct val="150000"/>
              </a:lnSpc>
              <a:spcBef>
                <a:spcPts val="0"/>
              </a:spcBef>
              <a:spcAft>
                <a:spcPts val="0"/>
              </a:spcAft>
              <a:buSzPts val="2800"/>
              <a:buNone/>
            </a:pPr>
            <a:r>
              <a:rPr b="1" lang="en-US" sz="2400">
                <a:latin typeface="Arial"/>
                <a:ea typeface="Arial"/>
                <a:cs typeface="Arial"/>
                <a:sym typeface="Arial"/>
              </a:rPr>
              <a:t>OS approaches:</a:t>
            </a:r>
            <a:endParaRPr b="1" sz="2400">
              <a:latin typeface="Arial"/>
              <a:ea typeface="Arial"/>
              <a:cs typeface="Arial"/>
              <a:sym typeface="Arial"/>
            </a:endParaRPr>
          </a:p>
          <a:p>
            <a:pPr indent="-381000" lvl="0" marL="457200" rtl="0" algn="l">
              <a:lnSpc>
                <a:spcPct val="150000"/>
              </a:lnSpc>
              <a:spcBef>
                <a:spcPts val="0"/>
              </a:spcBef>
              <a:spcAft>
                <a:spcPts val="0"/>
              </a:spcAft>
              <a:buSzPts val="2400"/>
              <a:buChar char="•"/>
            </a:pPr>
            <a:r>
              <a:rPr lang="en-US" sz="2400">
                <a:latin typeface="Arial"/>
                <a:ea typeface="Arial"/>
                <a:cs typeface="Arial"/>
                <a:sym typeface="Arial"/>
              </a:rPr>
              <a:t>ASLR (Address Space Layout Randomization)</a:t>
            </a:r>
            <a:endParaRPr sz="2400">
              <a:latin typeface="Arial"/>
              <a:ea typeface="Arial"/>
              <a:cs typeface="Arial"/>
              <a:sym typeface="Arial"/>
            </a:endParaRPr>
          </a:p>
          <a:p>
            <a:pPr indent="0" lvl="0" marL="0" rtl="0" algn="l">
              <a:lnSpc>
                <a:spcPct val="150000"/>
              </a:lnSpc>
              <a:spcBef>
                <a:spcPts val="0"/>
              </a:spcBef>
              <a:spcAft>
                <a:spcPts val="0"/>
              </a:spcAft>
              <a:buSzPts val="2800"/>
              <a:buNone/>
            </a:pPr>
            <a:r>
              <a:rPr b="1" lang="en-US" sz="2400">
                <a:latin typeface="Arial"/>
                <a:ea typeface="Arial"/>
                <a:cs typeface="Arial"/>
                <a:sym typeface="Arial"/>
              </a:rPr>
              <a:t>Compiler approaches:</a:t>
            </a:r>
            <a:endParaRPr b="1" sz="2400">
              <a:latin typeface="Arial"/>
              <a:ea typeface="Arial"/>
              <a:cs typeface="Arial"/>
              <a:sym typeface="Arial"/>
            </a:endParaRPr>
          </a:p>
          <a:p>
            <a:pPr indent="-381000" lvl="0" marL="457200" rtl="0" algn="l">
              <a:lnSpc>
                <a:spcPct val="150000"/>
              </a:lnSpc>
              <a:spcBef>
                <a:spcPts val="0"/>
              </a:spcBef>
              <a:spcAft>
                <a:spcPts val="0"/>
              </a:spcAft>
              <a:buSzPts val="2400"/>
              <a:buChar char="•"/>
            </a:pPr>
            <a:r>
              <a:rPr lang="en-US" sz="2400">
                <a:latin typeface="Arial"/>
                <a:ea typeface="Arial"/>
                <a:cs typeface="Arial"/>
                <a:sym typeface="Arial"/>
              </a:rPr>
              <a:t>Stack-Guard</a:t>
            </a:r>
            <a:endParaRPr sz="2400">
              <a:latin typeface="Arial"/>
              <a:ea typeface="Arial"/>
              <a:cs typeface="Arial"/>
              <a:sym typeface="Arial"/>
            </a:endParaRPr>
          </a:p>
          <a:p>
            <a:pPr indent="0" lvl="0" marL="0" rtl="0" algn="l">
              <a:lnSpc>
                <a:spcPct val="150000"/>
              </a:lnSpc>
              <a:spcBef>
                <a:spcPts val="0"/>
              </a:spcBef>
              <a:spcAft>
                <a:spcPts val="0"/>
              </a:spcAft>
              <a:buSzPts val="2800"/>
              <a:buNone/>
            </a:pPr>
            <a:r>
              <a:rPr b="1" lang="en-US" sz="2400">
                <a:latin typeface="Arial"/>
                <a:ea typeface="Arial"/>
                <a:cs typeface="Arial"/>
                <a:sym typeface="Arial"/>
              </a:rPr>
              <a:t>Hardware approaches:</a:t>
            </a:r>
            <a:endParaRPr b="1" sz="2400">
              <a:latin typeface="Arial"/>
              <a:ea typeface="Arial"/>
              <a:cs typeface="Arial"/>
              <a:sym typeface="Arial"/>
            </a:endParaRPr>
          </a:p>
          <a:p>
            <a:pPr indent="-381000" lvl="0" marL="457200" rtl="0" algn="l">
              <a:lnSpc>
                <a:spcPct val="150000"/>
              </a:lnSpc>
              <a:spcBef>
                <a:spcPts val="0"/>
              </a:spcBef>
              <a:spcAft>
                <a:spcPts val="0"/>
              </a:spcAft>
              <a:buSzPts val="2400"/>
              <a:buChar char="•"/>
            </a:pPr>
            <a:r>
              <a:rPr lang="en-US" sz="2400">
                <a:latin typeface="Arial"/>
                <a:ea typeface="Arial"/>
                <a:cs typeface="Arial"/>
                <a:sym typeface="Arial"/>
              </a:rPr>
              <a:t>Non-Executable Stack </a:t>
            </a:r>
            <a:endParaRPr sz="2400">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9"/>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Principle of ASLR</a:t>
            </a:r>
            <a:endParaRPr>
              <a:latin typeface="Arial"/>
              <a:ea typeface="Arial"/>
              <a:cs typeface="Arial"/>
              <a:sym typeface="Arial"/>
            </a:endParaRPr>
          </a:p>
        </p:txBody>
      </p:sp>
      <p:sp>
        <p:nvSpPr>
          <p:cNvPr id="320" name="Google Shape;320;p29"/>
          <p:cNvSpPr txBox="1"/>
          <p:nvPr/>
        </p:nvSpPr>
        <p:spPr>
          <a:xfrm>
            <a:off x="1090600" y="5103400"/>
            <a:ext cx="9731100" cy="755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Difficult to guess %ebp address and address of the malicious code </a:t>
            </a:r>
            <a:endParaRPr b="0" i="0" sz="2400" u="none" cap="none" strike="noStrike">
              <a:solidFill>
                <a:schemeClr val="dk1"/>
              </a:solidFill>
              <a:latin typeface="Arial"/>
              <a:ea typeface="Arial"/>
              <a:cs typeface="Arial"/>
              <a:sym typeface="Arial"/>
            </a:endParaRPr>
          </a:p>
        </p:txBody>
      </p:sp>
      <p:sp>
        <p:nvSpPr>
          <p:cNvPr id="321" name="Google Shape;321;p29"/>
          <p:cNvSpPr txBox="1"/>
          <p:nvPr/>
        </p:nvSpPr>
        <p:spPr>
          <a:xfrm>
            <a:off x="1090600" y="3803000"/>
            <a:ext cx="9731100" cy="755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Difficult to guess the stack address in the memory.</a:t>
            </a:r>
            <a:endParaRPr b="0" i="0" sz="2400" u="none" cap="none" strike="noStrike">
              <a:solidFill>
                <a:schemeClr val="dk1"/>
              </a:solidFill>
              <a:latin typeface="Arial"/>
              <a:ea typeface="Arial"/>
              <a:cs typeface="Arial"/>
              <a:sym typeface="Arial"/>
            </a:endParaRPr>
          </a:p>
        </p:txBody>
      </p:sp>
      <p:sp>
        <p:nvSpPr>
          <p:cNvPr id="322" name="Google Shape;322;p29"/>
          <p:cNvSpPr txBox="1"/>
          <p:nvPr/>
        </p:nvSpPr>
        <p:spPr>
          <a:xfrm>
            <a:off x="1069600" y="2125200"/>
            <a:ext cx="9773100" cy="1132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1100"/>
              <a:buFont typeface="Arial"/>
              <a:buNone/>
            </a:pPr>
            <a:r>
              <a:rPr b="0" i="0" lang="en-US" sz="2400" u="none" cap="none" strike="noStrike">
                <a:solidFill>
                  <a:schemeClr val="dk1"/>
                </a:solidFill>
                <a:latin typeface="Arial"/>
                <a:ea typeface="Arial"/>
                <a:cs typeface="Arial"/>
                <a:sym typeface="Arial"/>
              </a:rPr>
              <a:t>To randomize the start location of the stack that is every time the code is loaded in  the memory, the stack address changes.</a:t>
            </a:r>
            <a:endParaRPr b="0" i="0" sz="2400" u="none" cap="none" strike="noStrike">
              <a:solidFill>
                <a:schemeClr val="dk1"/>
              </a:solidFill>
              <a:latin typeface="Arial"/>
              <a:ea typeface="Arial"/>
              <a:cs typeface="Arial"/>
              <a:sym typeface="Arial"/>
            </a:endParaRPr>
          </a:p>
        </p:txBody>
      </p:sp>
      <p:sp>
        <p:nvSpPr>
          <p:cNvPr id="323" name="Google Shape;323;p29"/>
          <p:cNvSpPr/>
          <p:nvPr/>
        </p:nvSpPr>
        <p:spPr>
          <a:xfrm>
            <a:off x="5557700" y="3257725"/>
            <a:ext cx="167700" cy="545400"/>
          </a:xfrm>
          <a:prstGeom prst="down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9"/>
          <p:cNvSpPr/>
          <p:nvPr/>
        </p:nvSpPr>
        <p:spPr>
          <a:xfrm>
            <a:off x="5557700" y="4558100"/>
            <a:ext cx="167700" cy="545400"/>
          </a:xfrm>
          <a:prstGeom prst="downArrow">
            <a:avLst>
              <a:gd fmla="val 50000" name="adj1"/>
              <a:gd fmla="val 50000" name="adj2"/>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0"/>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Address Space Layout Randomization</a:t>
            </a:r>
            <a:endParaRPr>
              <a:latin typeface="Arial"/>
              <a:ea typeface="Arial"/>
              <a:cs typeface="Arial"/>
              <a:sym typeface="Arial"/>
            </a:endParaRPr>
          </a:p>
        </p:txBody>
      </p:sp>
      <p:sp>
        <p:nvSpPr>
          <p:cNvPr id="330" name="Google Shape;330;p30"/>
          <p:cNvSpPr txBox="1"/>
          <p:nvPr>
            <p:ph idx="1" type="body"/>
          </p:nvPr>
        </p:nvSpPr>
        <p:spPr>
          <a:xfrm>
            <a:off x="838200" y="1825625"/>
            <a:ext cx="10515600" cy="4351200"/>
          </a:xfrm>
          <a:prstGeom prst="rect">
            <a:avLst/>
          </a:prstGeom>
          <a:noFill/>
          <a:ln>
            <a:noFill/>
          </a:ln>
        </p:spPr>
        <p:txBody>
          <a:bodyPr anchorCtr="0" anchor="t" bIns="91425" lIns="91425" spcFirstLastPara="1" rIns="91425" wrap="square" tIns="91425">
            <a:noAutofit/>
          </a:bodyPr>
          <a:lstStyle/>
          <a:p>
            <a:pPr indent="0" lvl="0" marL="177800" rtl="0" algn="l">
              <a:lnSpc>
                <a:spcPct val="90000"/>
              </a:lnSpc>
              <a:spcBef>
                <a:spcPts val="0"/>
              </a:spcBef>
              <a:spcAft>
                <a:spcPts val="0"/>
              </a:spcAft>
              <a:buSzPts val="2800"/>
              <a:buNone/>
            </a:pPr>
            <a:r>
              <a:t/>
            </a:r>
            <a:endParaRPr b="0" i="0" sz="2800" u="none" cap="none" strike="noStrike">
              <a:solidFill>
                <a:schemeClr val="dk1"/>
              </a:solidFill>
              <a:latin typeface="Calibri"/>
              <a:ea typeface="Calibri"/>
              <a:cs typeface="Calibri"/>
              <a:sym typeface="Calibri"/>
            </a:endParaRPr>
          </a:p>
        </p:txBody>
      </p:sp>
      <p:pic>
        <p:nvPicPr>
          <p:cNvPr id="331" name="Google Shape;331;p30"/>
          <p:cNvPicPr preferRelativeResize="0"/>
          <p:nvPr/>
        </p:nvPicPr>
        <p:blipFill rotWithShape="1">
          <a:blip r:embed="rId3">
            <a:alphaModFix/>
          </a:blip>
          <a:srcRect b="0" l="0" r="0" t="0"/>
          <a:stretch/>
        </p:blipFill>
        <p:spPr>
          <a:xfrm>
            <a:off x="657500" y="1796175"/>
            <a:ext cx="11049000" cy="4410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1"/>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US">
                <a:latin typeface="Arial"/>
                <a:ea typeface="Arial"/>
                <a:cs typeface="Arial"/>
                <a:sym typeface="Arial"/>
              </a:rPr>
              <a:t>Address Space Layout Randomization : Working </a:t>
            </a:r>
            <a:endParaRPr>
              <a:latin typeface="Arial"/>
              <a:ea typeface="Arial"/>
              <a:cs typeface="Arial"/>
              <a:sym typeface="Arial"/>
            </a:endParaRPr>
          </a:p>
        </p:txBody>
      </p:sp>
      <p:sp>
        <p:nvSpPr>
          <p:cNvPr id="337" name="Google Shape;337;p31"/>
          <p:cNvSpPr txBox="1"/>
          <p:nvPr>
            <p:ph idx="1" type="body"/>
          </p:nvPr>
        </p:nvSpPr>
        <p:spPr>
          <a:xfrm>
            <a:off x="838200" y="1825625"/>
            <a:ext cx="10515600" cy="4351200"/>
          </a:xfrm>
          <a:prstGeom prst="rect">
            <a:avLst/>
          </a:prstGeom>
          <a:noFill/>
          <a:ln>
            <a:noFill/>
          </a:ln>
        </p:spPr>
        <p:txBody>
          <a:bodyPr anchorCtr="0" anchor="t" bIns="91425" lIns="91425" spcFirstLastPara="1" rIns="91425" wrap="square" tIns="91425">
            <a:noAutofit/>
          </a:bodyPr>
          <a:lstStyle/>
          <a:p>
            <a:pPr indent="-50800" lvl="0" marL="228600" rtl="0" algn="l">
              <a:lnSpc>
                <a:spcPct val="90000"/>
              </a:lnSpc>
              <a:spcBef>
                <a:spcPts val="0"/>
              </a:spcBef>
              <a:spcAft>
                <a:spcPts val="0"/>
              </a:spcAft>
              <a:buSzPts val="2800"/>
              <a:buNone/>
            </a:pPr>
            <a:r>
              <a:t/>
            </a:r>
            <a:endParaRPr b="0" i="0" sz="2800" u="none" cap="none" strike="noStrike">
              <a:solidFill>
                <a:schemeClr val="dk1"/>
              </a:solidFill>
              <a:latin typeface="Calibri"/>
              <a:ea typeface="Calibri"/>
              <a:cs typeface="Calibri"/>
              <a:sym typeface="Calibri"/>
            </a:endParaRPr>
          </a:p>
        </p:txBody>
      </p:sp>
      <p:pic>
        <p:nvPicPr>
          <p:cNvPr id="338" name="Google Shape;338;p31"/>
          <p:cNvPicPr preferRelativeResize="0"/>
          <p:nvPr/>
        </p:nvPicPr>
        <p:blipFill rotWithShape="1">
          <a:blip r:embed="rId3">
            <a:alphaModFix/>
          </a:blip>
          <a:srcRect b="0" l="0" r="0" t="0"/>
          <a:stretch/>
        </p:blipFill>
        <p:spPr>
          <a:xfrm>
            <a:off x="838200" y="1825613"/>
            <a:ext cx="5181600" cy="1952625"/>
          </a:xfrm>
          <a:prstGeom prst="rect">
            <a:avLst/>
          </a:prstGeom>
          <a:noFill/>
          <a:ln>
            <a:noFill/>
          </a:ln>
        </p:spPr>
      </p:pic>
      <p:pic>
        <p:nvPicPr>
          <p:cNvPr id="339" name="Google Shape;339;p31"/>
          <p:cNvPicPr preferRelativeResize="0"/>
          <p:nvPr/>
        </p:nvPicPr>
        <p:blipFill rotWithShape="1">
          <a:blip r:embed="rId4">
            <a:alphaModFix/>
          </a:blip>
          <a:srcRect b="0" l="0" r="0" t="0"/>
          <a:stretch/>
        </p:blipFill>
        <p:spPr>
          <a:xfrm>
            <a:off x="6172200" y="1825613"/>
            <a:ext cx="5181600" cy="1990725"/>
          </a:xfrm>
          <a:prstGeom prst="rect">
            <a:avLst/>
          </a:prstGeom>
          <a:noFill/>
          <a:ln>
            <a:noFill/>
          </a:ln>
        </p:spPr>
      </p:pic>
      <p:pic>
        <p:nvPicPr>
          <p:cNvPr id="340" name="Google Shape;340;p31"/>
          <p:cNvPicPr preferRelativeResize="0"/>
          <p:nvPr/>
        </p:nvPicPr>
        <p:blipFill rotWithShape="1">
          <a:blip r:embed="rId5">
            <a:alphaModFix/>
          </a:blip>
          <a:srcRect b="0" l="0" r="0" t="0"/>
          <a:stretch/>
        </p:blipFill>
        <p:spPr>
          <a:xfrm>
            <a:off x="3818500" y="4509938"/>
            <a:ext cx="5162550" cy="1666875"/>
          </a:xfrm>
          <a:prstGeom prst="rect">
            <a:avLst/>
          </a:prstGeom>
          <a:noFill/>
          <a:ln>
            <a:noFill/>
          </a:ln>
        </p:spPr>
      </p:pic>
      <p:pic>
        <p:nvPicPr>
          <p:cNvPr id="341" name="Google Shape;341;p31"/>
          <p:cNvPicPr preferRelativeResize="0"/>
          <p:nvPr/>
        </p:nvPicPr>
        <p:blipFill rotWithShape="1">
          <a:blip r:embed="rId6">
            <a:alphaModFix/>
          </a:blip>
          <a:srcRect b="0" l="0" r="0" t="0"/>
          <a:stretch/>
        </p:blipFill>
        <p:spPr>
          <a:xfrm>
            <a:off x="3818500" y="4195625"/>
            <a:ext cx="5162550" cy="314325"/>
          </a:xfrm>
          <a:prstGeom prst="rect">
            <a:avLst/>
          </a:prstGeom>
          <a:noFill/>
          <a:ln>
            <a:noFill/>
          </a:ln>
        </p:spPr>
      </p:pic>
      <p:sp>
        <p:nvSpPr>
          <p:cNvPr id="342" name="Google Shape;342;p31"/>
          <p:cNvSpPr/>
          <p:nvPr/>
        </p:nvSpPr>
        <p:spPr>
          <a:xfrm>
            <a:off x="1014800" y="3844025"/>
            <a:ext cx="337500" cy="3144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43" name="Google Shape;343;p31"/>
          <p:cNvSpPr/>
          <p:nvPr/>
        </p:nvSpPr>
        <p:spPr>
          <a:xfrm>
            <a:off x="3343600" y="5082400"/>
            <a:ext cx="337500" cy="3144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44" name="Google Shape;344;p31"/>
          <p:cNvSpPr/>
          <p:nvPr/>
        </p:nvSpPr>
        <p:spPr>
          <a:xfrm>
            <a:off x="9694275" y="4099475"/>
            <a:ext cx="337500" cy="314400"/>
          </a:xfrm>
          <a:prstGeom prst="ellipse">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2"/>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ASLR : Defeat It</a:t>
            </a:r>
            <a:endParaRPr>
              <a:latin typeface="Arial"/>
              <a:ea typeface="Arial"/>
              <a:cs typeface="Arial"/>
              <a:sym typeface="Arial"/>
            </a:endParaRPr>
          </a:p>
        </p:txBody>
      </p:sp>
      <p:sp>
        <p:nvSpPr>
          <p:cNvPr id="350" name="Google Shape;350;p32"/>
          <p:cNvSpPr txBox="1"/>
          <p:nvPr>
            <p:ph idx="1" type="body"/>
          </p:nvPr>
        </p:nvSpPr>
        <p:spPr>
          <a:xfrm>
            <a:off x="448475" y="1825625"/>
            <a:ext cx="11398800" cy="46650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AutoNum type="arabicPeriod"/>
            </a:pPr>
            <a:r>
              <a:rPr lang="en-US" sz="2400">
                <a:latin typeface="Arial"/>
                <a:ea typeface="Arial"/>
                <a:cs typeface="Arial"/>
                <a:sym typeface="Arial"/>
              </a:rPr>
              <a:t>Turn on address randomization (countermeasure)</a:t>
            </a:r>
            <a:endParaRPr sz="2400">
              <a:latin typeface="Arial"/>
              <a:ea typeface="Arial"/>
              <a:cs typeface="Arial"/>
              <a:sym typeface="Arial"/>
            </a:endParaRPr>
          </a:p>
          <a:p>
            <a:pPr indent="0" lvl="0" marL="0" rtl="0" algn="l">
              <a:lnSpc>
                <a:spcPct val="115000"/>
              </a:lnSpc>
              <a:spcBef>
                <a:spcPts val="0"/>
              </a:spcBef>
              <a:spcAft>
                <a:spcPts val="0"/>
              </a:spcAft>
              <a:buSzPts val="2800"/>
              <a:buNone/>
            </a:pPr>
            <a:r>
              <a:rPr lang="en-US" sz="2400"/>
              <a:t>          </a:t>
            </a:r>
            <a:r>
              <a:rPr lang="en-US" sz="2400">
                <a:latin typeface="Courier New"/>
                <a:ea typeface="Courier New"/>
                <a:cs typeface="Courier New"/>
                <a:sym typeface="Courier New"/>
              </a:rPr>
              <a:t>% sudo sysctl -w kernel.randomize_va_space=2</a:t>
            </a:r>
            <a:endParaRPr sz="24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2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400">
                <a:latin typeface="Arial"/>
                <a:ea typeface="Arial"/>
                <a:cs typeface="Arial"/>
                <a:sym typeface="Arial"/>
              </a:rPr>
              <a:t>2. Compile set-uid root version of stack.c</a:t>
            </a:r>
            <a:endParaRPr sz="2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400">
                <a:latin typeface="Courier New"/>
                <a:ea typeface="Courier New"/>
                <a:cs typeface="Courier New"/>
                <a:sym typeface="Courier New"/>
              </a:rPr>
              <a:t>  % gcc -o stack -z execstack -fno-stack-protector stack.c</a:t>
            </a:r>
            <a:endParaRPr sz="24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2400">
                <a:latin typeface="Courier New"/>
                <a:ea typeface="Courier New"/>
                <a:cs typeface="Courier New"/>
                <a:sym typeface="Courier New"/>
              </a:rPr>
              <a:t>  % sudo chown root stack</a:t>
            </a:r>
            <a:endParaRPr sz="2400">
              <a:latin typeface="Courier New"/>
              <a:ea typeface="Courier New"/>
              <a:cs typeface="Courier New"/>
              <a:sym typeface="Courier New"/>
            </a:endParaRPr>
          </a:p>
          <a:p>
            <a:pPr indent="0" lvl="0" marL="0" rtl="0" algn="l">
              <a:lnSpc>
                <a:spcPct val="115000"/>
              </a:lnSpc>
              <a:spcBef>
                <a:spcPts val="0"/>
              </a:spcBef>
              <a:spcAft>
                <a:spcPts val="0"/>
              </a:spcAft>
              <a:buSzPts val="2800"/>
              <a:buNone/>
            </a:pPr>
            <a:r>
              <a:rPr lang="en-US" sz="2400">
                <a:latin typeface="Courier New"/>
                <a:ea typeface="Courier New"/>
                <a:cs typeface="Courier New"/>
                <a:sym typeface="Courier New"/>
              </a:rPr>
              <a:t>  % sudo chmod 4755 stack</a:t>
            </a:r>
            <a:endParaRPr sz="24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24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2400"/>
          </a:p>
          <a:p>
            <a:pPr indent="0" lvl="0" marL="0" rtl="0" algn="l">
              <a:lnSpc>
                <a:spcPct val="115000"/>
              </a:lnSpc>
              <a:spcBef>
                <a:spcPts val="0"/>
              </a:spcBef>
              <a:spcAft>
                <a:spcPts val="0"/>
              </a:spcAft>
              <a:buClr>
                <a:schemeClr val="dk1"/>
              </a:buClr>
              <a:buSzPts val="1100"/>
              <a:buFont typeface="Arial"/>
              <a:buNone/>
            </a:pPr>
            <a:r>
              <a:rPr lang="en-US" sz="2400">
                <a:latin typeface="Courier New"/>
                <a:ea typeface="Courier New"/>
                <a:cs typeface="Courier New"/>
                <a:sym typeface="Courier New"/>
              </a:rPr>
              <a:t>	</a:t>
            </a:r>
            <a:endParaRPr sz="2400">
              <a:latin typeface="Courier New"/>
              <a:ea typeface="Courier New"/>
              <a:cs typeface="Courier New"/>
              <a:sym typeface="Courier New"/>
            </a:endParaRPr>
          </a:p>
          <a:p>
            <a:pPr indent="-50800" lvl="0" marL="228600" rtl="0" algn="l">
              <a:lnSpc>
                <a:spcPct val="90000"/>
              </a:lnSpc>
              <a:spcBef>
                <a:spcPts val="0"/>
              </a:spcBef>
              <a:spcAft>
                <a:spcPts val="0"/>
              </a:spcAft>
              <a:buSzPts val="2800"/>
              <a:buNone/>
            </a:pPr>
            <a:r>
              <a:t/>
            </a:r>
            <a:endParaRPr sz="2400">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ph type="title"/>
          </p:nvPr>
        </p:nvSpPr>
        <p:spPr>
          <a:xfrm>
            <a:off x="838200" y="2156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US"/>
              <a:t>ASLR : Defeat It</a:t>
            </a:r>
            <a:endParaRPr/>
          </a:p>
        </p:txBody>
      </p:sp>
      <p:sp>
        <p:nvSpPr>
          <p:cNvPr id="356" name="Google Shape;356;p33"/>
          <p:cNvSpPr txBox="1"/>
          <p:nvPr>
            <p:ph idx="1" type="body"/>
          </p:nvPr>
        </p:nvSpPr>
        <p:spPr>
          <a:xfrm>
            <a:off x="373800" y="1541325"/>
            <a:ext cx="11361300" cy="494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800"/>
              <a:buNone/>
            </a:pPr>
            <a:r>
              <a:rPr lang="en-US" sz="2400">
                <a:latin typeface="Arial"/>
                <a:ea typeface="Arial"/>
                <a:cs typeface="Arial"/>
                <a:sym typeface="Arial"/>
              </a:rPr>
              <a:t>3. Defeat it by running the vulnerable code in an infinite loop.</a:t>
            </a:r>
            <a:endParaRPr sz="2400">
              <a:latin typeface="Arial"/>
              <a:ea typeface="Arial"/>
              <a:cs typeface="Arial"/>
              <a:sym typeface="Arial"/>
            </a:endParaRPr>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SzPts val="2800"/>
              <a:buNone/>
            </a:pPr>
            <a:r>
              <a:t/>
            </a:r>
            <a:endParaRPr sz="2400"/>
          </a:p>
          <a:p>
            <a:pPr indent="0" lvl="0" marL="0" rtl="0" algn="l">
              <a:lnSpc>
                <a:spcPct val="115000"/>
              </a:lnSpc>
              <a:spcBef>
                <a:spcPts val="0"/>
              </a:spcBef>
              <a:spcAft>
                <a:spcPts val="0"/>
              </a:spcAft>
              <a:buClr>
                <a:schemeClr val="dk1"/>
              </a:buClr>
              <a:buSzPts val="1100"/>
              <a:buFont typeface="Arial"/>
              <a:buNone/>
            </a:pPr>
            <a:r>
              <a:t/>
            </a:r>
            <a:endParaRPr sz="2400"/>
          </a:p>
          <a:p>
            <a:pPr indent="-50800" lvl="0" marL="228600" rtl="0" algn="l">
              <a:lnSpc>
                <a:spcPct val="90000"/>
              </a:lnSpc>
              <a:spcBef>
                <a:spcPts val="0"/>
              </a:spcBef>
              <a:spcAft>
                <a:spcPts val="0"/>
              </a:spcAft>
              <a:buSzPts val="2800"/>
              <a:buNone/>
            </a:pPr>
            <a:r>
              <a:t/>
            </a:r>
            <a:endParaRPr sz="2400"/>
          </a:p>
        </p:txBody>
      </p:sp>
      <p:pic>
        <p:nvPicPr>
          <p:cNvPr id="357" name="Google Shape;357;p33"/>
          <p:cNvPicPr preferRelativeResize="0"/>
          <p:nvPr/>
        </p:nvPicPr>
        <p:blipFill rotWithShape="1">
          <a:blip r:embed="rId3">
            <a:alphaModFix/>
          </a:blip>
          <a:srcRect b="0" l="0" r="0" t="0"/>
          <a:stretch/>
        </p:blipFill>
        <p:spPr>
          <a:xfrm>
            <a:off x="672775" y="2113875"/>
            <a:ext cx="9119025" cy="40123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4"/>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t>ASLR : Defeat it</a:t>
            </a:r>
            <a:endParaRPr/>
          </a:p>
        </p:txBody>
      </p:sp>
      <p:sp>
        <p:nvSpPr>
          <p:cNvPr id="363" name="Google Shape;363;p34"/>
          <p:cNvSpPr txBox="1"/>
          <p:nvPr>
            <p:ph idx="1" type="body"/>
          </p:nvPr>
        </p:nvSpPr>
        <p:spPr>
          <a:xfrm>
            <a:off x="838200" y="1825625"/>
            <a:ext cx="10515600" cy="4351200"/>
          </a:xfrm>
          <a:prstGeom prst="rect">
            <a:avLst/>
          </a:prstGeom>
          <a:noFill/>
          <a:ln>
            <a:noFill/>
          </a:ln>
        </p:spPr>
        <p:txBody>
          <a:bodyPr anchorCtr="0" anchor="t" bIns="91425" lIns="91425" spcFirstLastPara="1" rIns="91425" wrap="square" tIns="91425">
            <a:noAutofit/>
          </a:bodyPr>
          <a:lstStyle/>
          <a:p>
            <a:pPr indent="0" lvl="0" marL="177800" rtl="0" algn="l">
              <a:lnSpc>
                <a:spcPct val="90000"/>
              </a:lnSpc>
              <a:spcBef>
                <a:spcPts val="0"/>
              </a:spcBef>
              <a:spcAft>
                <a:spcPts val="0"/>
              </a:spcAft>
              <a:buSzPts val="2800"/>
              <a:buNone/>
            </a:pPr>
            <a:r>
              <a:rPr lang="en-US">
                <a:latin typeface="Arial"/>
                <a:ea typeface="Arial"/>
                <a:cs typeface="Arial"/>
                <a:sym typeface="Arial"/>
              </a:rPr>
              <a:t>On running the script for about 19 minutes on a 32-bit Linux machine, we got the access to the shell (malicious code got executed).</a:t>
            </a:r>
            <a:endParaRPr>
              <a:latin typeface="Arial"/>
              <a:ea typeface="Arial"/>
              <a:cs typeface="Arial"/>
              <a:sym typeface="Arial"/>
            </a:endParaRPr>
          </a:p>
        </p:txBody>
      </p:sp>
      <p:pic>
        <p:nvPicPr>
          <p:cNvPr id="364" name="Google Shape;364;p34"/>
          <p:cNvPicPr preferRelativeResize="0"/>
          <p:nvPr/>
        </p:nvPicPr>
        <p:blipFill rotWithShape="1">
          <a:blip r:embed="rId3">
            <a:alphaModFix/>
          </a:blip>
          <a:srcRect b="0" l="0" r="0" t="0"/>
          <a:stretch/>
        </p:blipFill>
        <p:spPr>
          <a:xfrm>
            <a:off x="1426028" y="3367225"/>
            <a:ext cx="9008725" cy="26014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5"/>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Stack guard</a:t>
            </a:r>
            <a:endParaRPr>
              <a:latin typeface="Arial"/>
              <a:ea typeface="Arial"/>
              <a:cs typeface="Arial"/>
              <a:sym typeface="Arial"/>
            </a:endParaRPr>
          </a:p>
        </p:txBody>
      </p:sp>
      <p:pic>
        <p:nvPicPr>
          <p:cNvPr id="370" name="Google Shape;370;p35"/>
          <p:cNvPicPr preferRelativeResize="0"/>
          <p:nvPr/>
        </p:nvPicPr>
        <p:blipFill rotWithShape="1">
          <a:blip r:embed="rId3">
            <a:alphaModFix/>
          </a:blip>
          <a:srcRect b="0" l="0" r="0" t="0"/>
          <a:stretch/>
        </p:blipFill>
        <p:spPr>
          <a:xfrm>
            <a:off x="7104900" y="1825625"/>
            <a:ext cx="5087100" cy="4351200"/>
          </a:xfrm>
          <a:prstGeom prst="rect">
            <a:avLst/>
          </a:prstGeom>
          <a:noFill/>
          <a:ln>
            <a:noFill/>
          </a:ln>
        </p:spPr>
      </p:pic>
      <p:pic>
        <p:nvPicPr>
          <p:cNvPr id="371" name="Google Shape;371;p35"/>
          <p:cNvPicPr preferRelativeResize="0"/>
          <p:nvPr/>
        </p:nvPicPr>
        <p:blipFill rotWithShape="1">
          <a:blip r:embed="rId4">
            <a:alphaModFix/>
          </a:blip>
          <a:srcRect b="0" l="0" r="0" t="0"/>
          <a:stretch/>
        </p:blipFill>
        <p:spPr>
          <a:xfrm>
            <a:off x="1003951" y="1709525"/>
            <a:ext cx="4905974" cy="4583400"/>
          </a:xfrm>
          <a:prstGeom prst="rect">
            <a:avLst/>
          </a:prstGeom>
          <a:noFill/>
          <a:ln>
            <a:noFill/>
          </a:ln>
        </p:spPr>
      </p:pic>
      <p:sp>
        <p:nvSpPr>
          <p:cNvPr id="372" name="Google Shape;372;p35"/>
          <p:cNvSpPr/>
          <p:nvPr/>
        </p:nvSpPr>
        <p:spPr>
          <a:xfrm>
            <a:off x="1450325" y="2803975"/>
            <a:ext cx="2776200" cy="455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6"/>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Execution with StackGuard</a:t>
            </a:r>
            <a:endParaRPr>
              <a:latin typeface="Arial"/>
              <a:ea typeface="Arial"/>
              <a:cs typeface="Arial"/>
              <a:sym typeface="Arial"/>
            </a:endParaRPr>
          </a:p>
        </p:txBody>
      </p:sp>
      <p:pic>
        <p:nvPicPr>
          <p:cNvPr id="378" name="Google Shape;378;p36"/>
          <p:cNvPicPr preferRelativeResize="0"/>
          <p:nvPr/>
        </p:nvPicPr>
        <p:blipFill rotWithShape="1">
          <a:blip r:embed="rId3">
            <a:alphaModFix/>
          </a:blip>
          <a:srcRect b="0" l="0" r="0" t="0"/>
          <a:stretch/>
        </p:blipFill>
        <p:spPr>
          <a:xfrm>
            <a:off x="838200" y="1825629"/>
            <a:ext cx="7756504" cy="1853742"/>
          </a:xfrm>
          <a:prstGeom prst="rect">
            <a:avLst/>
          </a:prstGeom>
          <a:noFill/>
          <a:ln>
            <a:noFill/>
          </a:ln>
        </p:spPr>
      </p:pic>
      <p:pic>
        <p:nvPicPr>
          <p:cNvPr id="379" name="Google Shape;379;p36"/>
          <p:cNvPicPr preferRelativeResize="0"/>
          <p:nvPr/>
        </p:nvPicPr>
        <p:blipFill rotWithShape="1">
          <a:blip r:embed="rId4">
            <a:alphaModFix/>
          </a:blip>
          <a:srcRect b="0" l="0" r="0" t="0"/>
          <a:stretch/>
        </p:blipFill>
        <p:spPr>
          <a:xfrm>
            <a:off x="8677600" y="176200"/>
            <a:ext cx="3390900" cy="6505575"/>
          </a:xfrm>
          <a:prstGeom prst="rect">
            <a:avLst/>
          </a:prstGeom>
          <a:noFill/>
          <a:ln>
            <a:noFill/>
          </a:ln>
        </p:spPr>
      </p:pic>
      <p:pic>
        <p:nvPicPr>
          <p:cNvPr id="380" name="Google Shape;380;p36"/>
          <p:cNvPicPr preferRelativeResize="0"/>
          <p:nvPr/>
        </p:nvPicPr>
        <p:blipFill rotWithShape="1">
          <a:blip r:embed="rId5">
            <a:alphaModFix amt="26000"/>
          </a:blip>
          <a:srcRect b="0" l="0" r="0" t="0"/>
          <a:stretch/>
        </p:blipFill>
        <p:spPr>
          <a:xfrm>
            <a:off x="8771525" y="2832047"/>
            <a:ext cx="219075" cy="2541075"/>
          </a:xfrm>
          <a:prstGeom prst="rect">
            <a:avLst/>
          </a:prstGeom>
          <a:noFill/>
          <a:ln>
            <a:noFill/>
          </a:ln>
        </p:spPr>
      </p:pic>
      <p:cxnSp>
        <p:nvCxnSpPr>
          <p:cNvPr id="381" name="Google Shape;381;p36"/>
          <p:cNvCxnSpPr/>
          <p:nvPr/>
        </p:nvCxnSpPr>
        <p:spPr>
          <a:xfrm flipH="1" rot="10800000">
            <a:off x="6257225" y="4088938"/>
            <a:ext cx="2514300" cy="27300"/>
          </a:xfrm>
          <a:prstGeom prst="straightConnector1">
            <a:avLst/>
          </a:prstGeom>
          <a:noFill/>
          <a:ln cap="flat" cmpd="sng" w="9525">
            <a:solidFill>
              <a:srgbClr val="FF0000"/>
            </a:solidFill>
            <a:prstDash val="solid"/>
            <a:round/>
            <a:headEnd len="sm" w="sm" type="none"/>
            <a:tailEnd len="lg" w="lg" type="triangle"/>
          </a:ln>
        </p:spPr>
      </p:cxnSp>
      <p:sp>
        <p:nvSpPr>
          <p:cNvPr id="382" name="Google Shape;382;p36"/>
          <p:cNvSpPr txBox="1"/>
          <p:nvPr/>
        </p:nvSpPr>
        <p:spPr>
          <a:xfrm>
            <a:off x="1367525" y="3891850"/>
            <a:ext cx="4889700" cy="111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Canary check done by compiler.</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7"/>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4400"/>
              <a:buFont typeface="Calibri"/>
              <a:buNone/>
            </a:pPr>
            <a:r>
              <a:rPr lang="en-US"/>
              <a:t>Defeating Countermeasures in bash &amp; dash</a:t>
            </a:r>
            <a:endParaRPr/>
          </a:p>
        </p:txBody>
      </p:sp>
      <p:sp>
        <p:nvSpPr>
          <p:cNvPr id="388" name="Google Shape;388;p37"/>
          <p:cNvSpPr txBox="1"/>
          <p:nvPr>
            <p:ph idx="1" type="body"/>
          </p:nvPr>
        </p:nvSpPr>
        <p:spPr>
          <a:xfrm>
            <a:off x="838200" y="1825625"/>
            <a:ext cx="10515600" cy="2318992"/>
          </a:xfrm>
          <a:prstGeom prst="rect">
            <a:avLst/>
          </a:prstGeom>
          <a:noFill/>
          <a:ln>
            <a:noFill/>
          </a:ln>
        </p:spPr>
        <p:txBody>
          <a:bodyPr anchorCtr="0" anchor="t" bIns="91425" lIns="91425" spcFirstLastPara="1" rIns="91425" wrap="square" tIns="91425">
            <a:noAutofit/>
          </a:bodyPr>
          <a:lstStyle/>
          <a:p>
            <a:pPr indent="-177800" lvl="0" marL="228600" marR="0" rtl="0" algn="l">
              <a:lnSpc>
                <a:spcPct val="90000"/>
              </a:lnSpc>
              <a:spcBef>
                <a:spcPts val="0"/>
              </a:spcBef>
              <a:spcAft>
                <a:spcPts val="0"/>
              </a:spcAft>
              <a:buClr>
                <a:schemeClr val="dk1"/>
              </a:buClr>
              <a:buSzPts val="2800"/>
              <a:buFont typeface="Arial"/>
              <a:buChar char="•"/>
            </a:pPr>
            <a:r>
              <a:rPr lang="en-US"/>
              <a:t> They turn the setuid process into a non-setuid process</a:t>
            </a:r>
            <a:endParaRPr/>
          </a:p>
          <a:p>
            <a:pPr indent="-152400" lvl="1" marL="685800" rtl="0" algn="l">
              <a:lnSpc>
                <a:spcPct val="90000"/>
              </a:lnSpc>
              <a:spcBef>
                <a:spcPts val="500"/>
              </a:spcBef>
              <a:spcAft>
                <a:spcPts val="0"/>
              </a:spcAft>
              <a:buSzPts val="2400"/>
              <a:buChar char="•"/>
            </a:pPr>
            <a:r>
              <a:rPr lang="en-US"/>
              <a:t> They set the effective user ID to the real user ID, dropping the privilege</a:t>
            </a:r>
            <a:endParaRPr/>
          </a:p>
          <a:p>
            <a:pPr indent="-177800" lvl="0" marL="228600" marR="0" rtl="0" algn="l">
              <a:lnSpc>
                <a:spcPct val="90000"/>
              </a:lnSpc>
              <a:spcBef>
                <a:spcPts val="1000"/>
              </a:spcBef>
              <a:spcAft>
                <a:spcPts val="0"/>
              </a:spcAft>
              <a:buClr>
                <a:schemeClr val="dk1"/>
              </a:buClr>
              <a:buSzPts val="2800"/>
              <a:buFont typeface="Arial"/>
              <a:buChar char="•"/>
            </a:pPr>
            <a:r>
              <a:rPr lang="en-US"/>
              <a:t>  Idea: before running them, we set the real user ID to 0</a:t>
            </a:r>
            <a:endParaRPr/>
          </a:p>
          <a:p>
            <a:pPr indent="-152400" lvl="1" marL="685800" rtl="0" algn="l">
              <a:lnSpc>
                <a:spcPct val="90000"/>
              </a:lnSpc>
              <a:spcBef>
                <a:spcPts val="500"/>
              </a:spcBef>
              <a:spcAft>
                <a:spcPts val="0"/>
              </a:spcAft>
              <a:buSzPts val="2400"/>
              <a:buChar char="•"/>
            </a:pPr>
            <a:r>
              <a:rPr lang="en-US"/>
              <a:t> Invoke setuid(0)</a:t>
            </a:r>
            <a:endParaRPr/>
          </a:p>
          <a:p>
            <a:pPr indent="-152400" lvl="1" marL="685800" rtl="0" algn="l">
              <a:lnSpc>
                <a:spcPct val="90000"/>
              </a:lnSpc>
              <a:spcBef>
                <a:spcPts val="500"/>
              </a:spcBef>
              <a:spcAft>
                <a:spcPts val="0"/>
              </a:spcAft>
              <a:buSzPts val="2400"/>
              <a:buChar char="•"/>
            </a:pPr>
            <a:r>
              <a:rPr lang="en-US"/>
              <a:t> We can do this at the beginning of the shellcode</a:t>
            </a:r>
            <a:endParaRPr/>
          </a:p>
        </p:txBody>
      </p:sp>
      <p:pic>
        <p:nvPicPr>
          <p:cNvPr descr="Screen Clipping" id="389" name="Google Shape;389;p37"/>
          <p:cNvPicPr preferRelativeResize="0"/>
          <p:nvPr/>
        </p:nvPicPr>
        <p:blipFill rotWithShape="1">
          <a:blip r:embed="rId3">
            <a:alphaModFix/>
          </a:blip>
          <a:srcRect b="0" l="0" r="0" t="0"/>
          <a:stretch/>
        </p:blipFill>
        <p:spPr>
          <a:xfrm>
            <a:off x="1455566" y="4363278"/>
            <a:ext cx="9008511" cy="145111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8"/>
          <p:cNvSpPr txBox="1"/>
          <p:nvPr>
            <p:ph type="title"/>
          </p:nvPr>
        </p:nvSpPr>
        <p:spPr>
          <a:xfrm>
            <a:off x="838200" y="365125"/>
            <a:ext cx="10515600" cy="13257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4400"/>
              <a:buNone/>
            </a:pPr>
            <a:r>
              <a:rPr lang="en-US">
                <a:latin typeface="Arial"/>
                <a:ea typeface="Arial"/>
                <a:cs typeface="Arial"/>
                <a:sym typeface="Arial"/>
              </a:rPr>
              <a:t>Non-executable stack</a:t>
            </a:r>
            <a:endParaRPr>
              <a:latin typeface="Arial"/>
              <a:ea typeface="Arial"/>
              <a:cs typeface="Arial"/>
              <a:sym typeface="Arial"/>
            </a:endParaRPr>
          </a:p>
        </p:txBody>
      </p:sp>
      <p:sp>
        <p:nvSpPr>
          <p:cNvPr id="395" name="Google Shape;395;p38"/>
          <p:cNvSpPr txBox="1"/>
          <p:nvPr>
            <p:ph idx="1" type="body"/>
          </p:nvPr>
        </p:nvSpPr>
        <p:spPr>
          <a:xfrm>
            <a:off x="838200" y="1825625"/>
            <a:ext cx="10515600" cy="4351200"/>
          </a:xfrm>
          <a:prstGeom prst="rect">
            <a:avLst/>
          </a:prstGeom>
          <a:noFill/>
          <a:ln>
            <a:noFill/>
          </a:ln>
        </p:spPr>
        <p:txBody>
          <a:bodyPr anchorCtr="0" anchor="t" bIns="91425" lIns="91425" spcFirstLastPara="1" rIns="91425" wrap="square" tIns="91425">
            <a:noAutofit/>
          </a:bodyPr>
          <a:lstStyle/>
          <a:p>
            <a:pPr indent="-406400" lvl="0" marL="457200" rtl="0" algn="l">
              <a:lnSpc>
                <a:spcPct val="90000"/>
              </a:lnSpc>
              <a:spcBef>
                <a:spcPts val="0"/>
              </a:spcBef>
              <a:spcAft>
                <a:spcPts val="0"/>
              </a:spcAft>
              <a:buSzPts val="2800"/>
              <a:buFont typeface="Arial"/>
              <a:buChar char="•"/>
            </a:pPr>
            <a:r>
              <a:rPr lang="en-US">
                <a:latin typeface="Arial"/>
                <a:ea typeface="Arial"/>
                <a:cs typeface="Arial"/>
                <a:sym typeface="Arial"/>
              </a:rPr>
              <a:t>NX bit, standing for No-eXecute feature in CPU separates code from data which marks certain areas of the memory as non-executable.</a:t>
            </a:r>
            <a:endParaRPr>
              <a:latin typeface="Arial"/>
              <a:ea typeface="Arial"/>
              <a:cs typeface="Arial"/>
              <a:sym typeface="Arial"/>
            </a:endParaRPr>
          </a:p>
          <a:p>
            <a:pPr indent="0" lvl="0" marL="0" rtl="0" algn="l">
              <a:lnSpc>
                <a:spcPct val="90000"/>
              </a:lnSpc>
              <a:spcBef>
                <a:spcPts val="0"/>
              </a:spcBef>
              <a:spcAft>
                <a:spcPts val="0"/>
              </a:spcAft>
              <a:buSzPts val="2800"/>
              <a:buNone/>
            </a:pPr>
            <a:r>
              <a:t/>
            </a:r>
            <a:endParaRPr>
              <a:latin typeface="Arial"/>
              <a:ea typeface="Arial"/>
              <a:cs typeface="Arial"/>
              <a:sym typeface="Arial"/>
            </a:endParaRPr>
          </a:p>
          <a:p>
            <a:pPr indent="-406400" lvl="0" marL="457200" rtl="0" algn="l">
              <a:lnSpc>
                <a:spcPct val="90000"/>
              </a:lnSpc>
              <a:spcBef>
                <a:spcPts val="0"/>
              </a:spcBef>
              <a:spcAft>
                <a:spcPts val="0"/>
              </a:spcAft>
              <a:buSzPts val="2800"/>
              <a:buFont typeface="Arial"/>
              <a:buChar char="•"/>
            </a:pPr>
            <a:r>
              <a:rPr lang="en-US">
                <a:latin typeface="Arial"/>
                <a:ea typeface="Arial"/>
                <a:cs typeface="Arial"/>
                <a:sym typeface="Arial"/>
              </a:rPr>
              <a:t>This countermeasure can be defeated using a different technique called </a:t>
            </a:r>
            <a:r>
              <a:rPr b="1" lang="en-US">
                <a:solidFill>
                  <a:srgbClr val="FF0000"/>
                </a:solidFill>
                <a:latin typeface="Arial"/>
                <a:ea typeface="Arial"/>
                <a:cs typeface="Arial"/>
                <a:sym typeface="Arial"/>
              </a:rPr>
              <a:t>Return-to-libc</a:t>
            </a:r>
            <a:r>
              <a:rPr lang="en-US">
                <a:latin typeface="Arial"/>
                <a:ea typeface="Arial"/>
                <a:cs typeface="Arial"/>
                <a:sym typeface="Arial"/>
              </a:rPr>
              <a:t> attack (there is a separate chapter on this attack)</a:t>
            </a:r>
            <a:endParaRPr>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9"/>
          <p:cNvSpPr txBox="1"/>
          <p:nvPr>
            <p:ph type="title"/>
          </p:nvPr>
        </p:nvSpPr>
        <p:spPr>
          <a:xfrm>
            <a:off x="838200" y="365125"/>
            <a:ext cx="10515600" cy="1325563"/>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4400"/>
              <a:buFont typeface="Calibri"/>
              <a:buNone/>
            </a:pPr>
            <a:r>
              <a:rPr lang="en-US"/>
              <a:t>Summary </a:t>
            </a:r>
            <a:endParaRPr/>
          </a:p>
        </p:txBody>
      </p:sp>
      <p:sp>
        <p:nvSpPr>
          <p:cNvPr id="401" name="Google Shape;401;p39"/>
          <p:cNvSpPr txBox="1"/>
          <p:nvPr>
            <p:ph idx="1" type="body"/>
          </p:nvPr>
        </p:nvSpPr>
        <p:spPr>
          <a:xfrm>
            <a:off x="838200" y="1825625"/>
            <a:ext cx="10515600" cy="4351338"/>
          </a:xfrm>
          <a:prstGeom prst="rect">
            <a:avLst/>
          </a:prstGeom>
          <a:noFill/>
          <a:ln>
            <a:noFill/>
          </a:ln>
        </p:spPr>
        <p:txBody>
          <a:bodyPr anchorCtr="0" anchor="t" bIns="91425" lIns="91425" spcFirstLastPara="1" rIns="91425" wrap="square" tIns="91425">
            <a:noAutofit/>
          </a:bodyPr>
          <a:lstStyle/>
          <a:p>
            <a:pPr indent="-225425" lvl="0" marL="403225" rtl="0" algn="l">
              <a:lnSpc>
                <a:spcPct val="90000"/>
              </a:lnSpc>
              <a:spcBef>
                <a:spcPts val="0"/>
              </a:spcBef>
              <a:spcAft>
                <a:spcPts val="0"/>
              </a:spcAft>
              <a:buSzPts val="2800"/>
              <a:buChar char="•"/>
            </a:pPr>
            <a:r>
              <a:rPr lang="en-US"/>
              <a:t>Buffer overflow is a common security flaw</a:t>
            </a:r>
            <a:endParaRPr/>
          </a:p>
          <a:p>
            <a:pPr indent="-225425" lvl="0" marL="403225" rtl="0" algn="l">
              <a:lnSpc>
                <a:spcPct val="90000"/>
              </a:lnSpc>
              <a:spcBef>
                <a:spcPts val="1000"/>
              </a:spcBef>
              <a:spcAft>
                <a:spcPts val="0"/>
              </a:spcAft>
              <a:buSzPts val="2800"/>
              <a:buChar char="•"/>
            </a:pPr>
            <a:r>
              <a:rPr lang="en-US"/>
              <a:t>We only focused on stack-based buffer overflow</a:t>
            </a:r>
            <a:endParaRPr/>
          </a:p>
          <a:p>
            <a:pPr indent="-225425" lvl="1" marL="860425" rtl="0" algn="l">
              <a:lnSpc>
                <a:spcPct val="90000"/>
              </a:lnSpc>
              <a:spcBef>
                <a:spcPts val="500"/>
              </a:spcBef>
              <a:spcAft>
                <a:spcPts val="0"/>
              </a:spcAft>
              <a:buSzPts val="2400"/>
              <a:buChar char="•"/>
            </a:pPr>
            <a:r>
              <a:rPr lang="en-US"/>
              <a:t>Heap-based buffer overflow can also lead to code injection </a:t>
            </a:r>
            <a:endParaRPr/>
          </a:p>
          <a:p>
            <a:pPr indent="-225425" lvl="0" marL="403225" rtl="0" algn="l">
              <a:lnSpc>
                <a:spcPct val="90000"/>
              </a:lnSpc>
              <a:spcBef>
                <a:spcPts val="1000"/>
              </a:spcBef>
              <a:spcAft>
                <a:spcPts val="0"/>
              </a:spcAft>
              <a:buSzPts val="2800"/>
              <a:buChar char="•"/>
            </a:pPr>
            <a:r>
              <a:rPr lang="en-US"/>
              <a:t>Exploit buffer overflow to run injected code</a:t>
            </a:r>
            <a:endParaRPr/>
          </a:p>
          <a:p>
            <a:pPr indent="-225425" lvl="0" marL="403225" rtl="0" algn="l">
              <a:lnSpc>
                <a:spcPct val="90000"/>
              </a:lnSpc>
              <a:spcBef>
                <a:spcPts val="1000"/>
              </a:spcBef>
              <a:spcAft>
                <a:spcPts val="0"/>
              </a:spcAft>
              <a:buSzPts val="2800"/>
              <a:buChar char="•"/>
            </a:pPr>
            <a:r>
              <a:rPr lang="en-US"/>
              <a:t>Defend against the attack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2023-06-25T08:19:50Z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1033-11.1.0.11664</vt:lpwstr>
  </property>
</Properties>
</file>